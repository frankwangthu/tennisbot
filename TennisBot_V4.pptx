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3"/>
  </p:notesMasterIdLst>
  <p:sldIdLst>
    <p:sldId id="256" r:id="rId2"/>
    <p:sldId id="283" r:id="rId3"/>
    <p:sldId id="286" r:id="rId4"/>
    <p:sldId id="291" r:id="rId5"/>
    <p:sldId id="258" r:id="rId6"/>
    <p:sldId id="285" r:id="rId7"/>
    <p:sldId id="284" r:id="rId8"/>
    <p:sldId id="287" r:id="rId9"/>
    <p:sldId id="288" r:id="rId10"/>
    <p:sldId id="290" r:id="rId11"/>
    <p:sldId id="289" r:id="rId12"/>
  </p:sldIdLst>
  <p:sldSz cx="12192000" cy="6858000"/>
  <p:notesSz cx="6858000" cy="12192000"/>
  <p:custDataLst>
    <p:tags r:id="rId14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7" autoAdjust="0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4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gs" Target="tags/tag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HIT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29E82D-F7A6-47F0-B36F-48210157603D}" type="datetimeFigureOut">
              <a:rPr lang="zh-CN" altLang="en-US" smtClean="0"/>
              <a:t>2026/9/1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08B38A-547B-4FD3-B28B-9AACE6C0AB86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4.xml"/><Relationship Id="rId3" Type="http://schemas.microsoft.com/office/2007/relationships/media" Target="../media/media2.mp4"/><Relationship Id="rId7" Type="http://schemas.openxmlformats.org/officeDocument/2006/relationships/slideLayout" Target="../slideLayouts/slideLayout2.xml"/><Relationship Id="rId12" Type="http://schemas.openxmlformats.org/officeDocument/2006/relationships/image" Target="../media/image15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video" Target="../media/media3.mp4"/><Relationship Id="rId11" Type="http://schemas.openxmlformats.org/officeDocument/2006/relationships/image" Target="../media/image14.png"/><Relationship Id="rId5" Type="http://schemas.microsoft.com/office/2007/relationships/media" Target="../media/media3.mp4"/><Relationship Id="rId10" Type="http://schemas.openxmlformats.org/officeDocument/2006/relationships/image" Target="../media/image13.png"/><Relationship Id="rId4" Type="http://schemas.openxmlformats.org/officeDocument/2006/relationships/video" Target="../media/media2.mp4"/><Relationship Id="rId9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图片 21" descr="微信图片_20260901101527_54_60"/>
          <p:cNvPicPr>
            <a:picLocks noChangeAspect="1"/>
          </p:cNvPicPr>
          <p:nvPr/>
        </p:nvPicPr>
        <p:blipFill>
          <a:blip r:embed="rId3">
            <a:alphaModFix amt="80000"/>
          </a:blip>
          <a:stretch>
            <a:fillRect/>
          </a:stretch>
        </p:blipFill>
        <p:spPr>
          <a:xfrm>
            <a:off x="7620" y="0"/>
            <a:ext cx="13757910" cy="7743825"/>
          </a:xfrm>
          <a:prstGeom prst="rect">
            <a:avLst/>
          </a:prstGeom>
        </p:spPr>
      </p:pic>
      <p:sp>
        <p:nvSpPr>
          <p:cNvPr id="23" name="矩形 22"/>
          <p:cNvSpPr/>
          <p:nvPr/>
        </p:nvSpPr>
        <p:spPr>
          <a:xfrm rot="600000">
            <a:off x="-1654175" y="-1809115"/>
            <a:ext cx="7442200" cy="8975725"/>
          </a:xfrm>
          <a:prstGeom prst="rect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 0"/>
          <p:cNvSpPr/>
          <p:nvPr/>
        </p:nvSpPr>
        <p:spPr>
          <a:xfrm>
            <a:off x="1699895" y="1091116"/>
            <a:ext cx="585216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  <a:latin typeface="Impact" panose="020B0806030902050204" charset="0"/>
                <a:cs typeface="Impact" panose="020B0806030902050204" charset="0"/>
              </a:rPr>
              <a:t>TennisBot</a:t>
            </a:r>
            <a:endParaRPr lang="en-US" sz="4400" dirty="0">
              <a:latin typeface="Impact" panose="020B0806030902050204" charset="0"/>
              <a:cs typeface="Impact" panose="020B0806030902050204" charset="0"/>
            </a:endParaRPr>
          </a:p>
        </p:txBody>
      </p:sp>
      <p:sp>
        <p:nvSpPr>
          <p:cNvPr id="3" name="Text 1"/>
          <p:cNvSpPr/>
          <p:nvPr/>
        </p:nvSpPr>
        <p:spPr>
          <a:xfrm>
            <a:off x="630555" y="2063115"/>
            <a:ext cx="4541520" cy="72009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 err="1">
                <a:solidFill>
                  <a:schemeClr val="tx1"/>
                </a:solidFill>
              </a:rPr>
              <a:t>自主网球收集机器人开题报告</a:t>
            </a:r>
            <a:endParaRPr lang="en-US" sz="2000" dirty="0">
              <a:solidFill>
                <a:schemeClr val="tx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523869" y="5806440"/>
            <a:ext cx="292608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80" dirty="0">
                <a:solidFill>
                  <a:schemeClr val="tx1"/>
                </a:solidFill>
              </a:rPr>
              <a:t>汇报时长：约 6 分钟</a:t>
            </a:r>
          </a:p>
        </p:txBody>
      </p:sp>
      <p:sp>
        <p:nvSpPr>
          <p:cNvPr id="21" name="Text 19"/>
          <p:cNvSpPr/>
          <p:nvPr/>
        </p:nvSpPr>
        <p:spPr>
          <a:xfrm>
            <a:off x="502920" y="6528816"/>
            <a:ext cx="1120140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chemeClr val="tx1"/>
                </a:solidFill>
              </a:rPr>
              <a:t>TennisBot | 6-min opening proposal | engineering practice demo</a:t>
            </a:r>
          </a:p>
        </p:txBody>
      </p:sp>
      <p:sp>
        <p:nvSpPr>
          <p:cNvPr id="24" name="矩形 23"/>
          <p:cNvSpPr/>
          <p:nvPr/>
        </p:nvSpPr>
        <p:spPr>
          <a:xfrm rot="600000">
            <a:off x="11430000" y="232410"/>
            <a:ext cx="7442200" cy="8975725"/>
          </a:xfrm>
          <a:prstGeom prst="rect">
            <a:avLst/>
          </a:prstGeom>
          <a:solidFill>
            <a:schemeClr val="accent3">
              <a:lumMod val="60000"/>
              <a:lumOff val="40000"/>
              <a:alpha val="90000"/>
            </a:schemeClr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文本框 24"/>
          <p:cNvSpPr txBox="1"/>
          <p:nvPr/>
        </p:nvSpPr>
        <p:spPr>
          <a:xfrm>
            <a:off x="1699895" y="4095750"/>
            <a:ext cx="4749800" cy="645160"/>
          </a:xfrm>
          <a:prstGeom prst="rect">
            <a:avLst/>
          </a:prstGeom>
        </p:spPr>
        <p:txBody>
          <a:bodyPr wrap="square">
            <a:spAutoFit/>
            <a:extLst>
              <a:ext uri="{4A0BC546-FE56-4ADE-93B0-CB8AF2F6F144}">
                <wpsdc:textFrameExt xmlns="" xmlns:wpsdc="http://www.wps.cn/officeDocument/2022/drawingmlCustomData" type="text"/>
              </a:ext>
            </a:extLst>
          </a:bodyPr>
          <a:lstStyle/>
          <a:p>
            <a:pPr algn="l"/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小组成员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炜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彭欣妍</a:t>
            </a:r>
          </a:p>
          <a:p>
            <a:pPr algn="l"/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	 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王彦鲁</a:t>
            </a:r>
            <a:r>
              <a:rPr lang="en-US" altLang="zh-CN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     </a:t>
            </a:r>
            <a:r>
              <a:rPr lang="zh-CN" altLang="en-US" sz="1800" b="1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秦启航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项目背景</a:t>
            </a:r>
          </a:p>
        </p:txBody>
      </p:sp>
      <p:sp>
        <p:nvSpPr>
          <p:cNvPr id="5" name="文本框 4"/>
          <p:cNvSpPr txBox="1"/>
          <p:nvPr/>
        </p:nvSpPr>
        <p:spPr>
          <a:xfrm>
            <a:off x="5803770" y="2181336"/>
            <a:ext cx="3278189" cy="374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10000"/>
              </a:lnSpc>
            </a:pPr>
            <a:r>
              <a:rPr lang="zh-CN" altLang="en-US" dirty="0">
                <a:latin typeface="+mj-lt"/>
              </a:rPr>
              <a:t>一次散落 </a:t>
            </a:r>
            <a:r>
              <a:rPr lang="zh-CN" altLang="en-US" b="1" dirty="0">
                <a:latin typeface="+mj-lt"/>
              </a:rPr>
              <a:t>50–150</a:t>
            </a:r>
            <a:r>
              <a:rPr lang="zh-CN" altLang="en-US" dirty="0">
                <a:latin typeface="+mj-lt"/>
              </a:rPr>
              <a:t> 球，</a:t>
            </a:r>
          </a:p>
          <a:p>
            <a:pPr>
              <a:lnSpc>
                <a:spcPct val="110000"/>
              </a:lnSpc>
            </a:pPr>
            <a:r>
              <a:rPr lang="zh-CN" altLang="en-US" dirty="0">
                <a:latin typeface="+mj-lt"/>
              </a:rPr>
              <a:t>训练间隙 / 课后清场</a:t>
            </a:r>
            <a:endParaRPr lang="en-US" altLang="zh-CN" dirty="0">
              <a:latin typeface="+mj-lt"/>
            </a:endParaRPr>
          </a:p>
          <a:p>
            <a:endParaRPr lang="en-US" altLang="zh-CN" dirty="0">
              <a:latin typeface="+mj-lt"/>
            </a:endParaRPr>
          </a:p>
          <a:p>
            <a:r>
              <a:rPr lang="zh-CN" altLang="en-US" dirty="0">
                <a:latin typeface="+mj-lt"/>
              </a:rPr>
              <a:t>训练节奏被频繁打断且</a:t>
            </a:r>
            <a:r>
              <a:rPr lang="zh-CN" altLang="en-US" dirty="0">
                <a:latin typeface="+mj-lt"/>
                <a:sym typeface="+mn-ea"/>
              </a:rPr>
              <a:t>重复弯腰劳动强度大</a:t>
            </a:r>
            <a:endParaRPr lang="zh-CN" altLang="en-US" dirty="0">
              <a:latin typeface="+mj-lt"/>
            </a:endParaRPr>
          </a:p>
          <a:p>
            <a:endParaRPr lang="zh-CN" altLang="en-US" dirty="0">
              <a:latin typeface="+mj-lt"/>
            </a:endParaRPr>
          </a:p>
          <a:p>
            <a:r>
              <a:rPr lang="zh-CN" altLang="en-US" dirty="0">
                <a:latin typeface="+mj-lt"/>
              </a:rPr>
              <a:t>多球训练每打一轮（15–30 球）就要停拍全场捡球，一次训练中断 </a:t>
            </a:r>
            <a:r>
              <a:rPr lang="zh-CN" altLang="en-US" b="1" dirty="0">
                <a:latin typeface="+mj-lt"/>
              </a:rPr>
              <a:t>4–8 </a:t>
            </a:r>
            <a:r>
              <a:rPr lang="zh-CN" altLang="en-US" dirty="0">
                <a:latin typeface="+mj-lt"/>
              </a:rPr>
              <a:t>次，每次 3–8 分钟。</a:t>
            </a:r>
            <a:endParaRPr lang="en-US" altLang="zh-CN" dirty="0">
              <a:latin typeface="+mj-lt"/>
            </a:endParaRPr>
          </a:p>
          <a:p>
            <a:endParaRPr lang="en-US" altLang="zh-CN" dirty="0">
              <a:latin typeface="+mj-lt"/>
            </a:endParaRPr>
          </a:p>
          <a:p>
            <a:r>
              <a:rPr lang="zh-CN" altLang="en-US" dirty="0">
                <a:latin typeface="+mj-lt"/>
              </a:rPr>
              <a:t>有效击球时间</a:t>
            </a:r>
            <a:r>
              <a:rPr lang="zh-CN" altLang="en-US" b="1" dirty="0">
                <a:solidFill>
                  <a:srgbClr val="FF0000"/>
                </a:solidFill>
                <a:latin typeface="+mj-lt"/>
              </a:rPr>
              <a:t>被压缩 30%</a:t>
            </a:r>
            <a:r>
              <a:rPr lang="zh-CN" altLang="en-US" dirty="0">
                <a:latin typeface="+mj-lt"/>
              </a:rPr>
              <a:t> 以上</a:t>
            </a:r>
          </a:p>
          <a:p>
            <a:endParaRPr lang="zh-CN" altLang="en-US" dirty="0"/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2822" y="1983447"/>
            <a:ext cx="2264525" cy="3174443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803770" y="1518679"/>
            <a:ext cx="20955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捡球需求</a:t>
            </a:r>
          </a:p>
        </p:txBody>
      </p:sp>
      <p:sp>
        <p:nvSpPr>
          <p:cNvPr id="13" name="文本框 12"/>
          <p:cNvSpPr txBox="1"/>
          <p:nvPr/>
        </p:nvSpPr>
        <p:spPr>
          <a:xfrm>
            <a:off x="621071" y="1518679"/>
            <a:ext cx="20955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网球运动火爆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758825" y="5562587"/>
            <a:ext cx="6096000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 dirty="0"/>
              <a:t>清华现有紫荆、北体、东网网球场共</a:t>
            </a:r>
            <a:r>
              <a:rPr lang="zh-CN" altLang="en-US" b="1" dirty="0"/>
              <a:t>25</a:t>
            </a:r>
            <a:r>
              <a:rPr lang="zh-CN" altLang="en-US" dirty="0"/>
              <a:t>个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8825" y="1983740"/>
            <a:ext cx="2852767" cy="1927171"/>
          </a:xfrm>
          <a:prstGeom prst="rect">
            <a:avLst/>
          </a:prstGeom>
        </p:spPr>
      </p:pic>
      <p:pic>
        <p:nvPicPr>
          <p:cNvPr id="6" name="图片 5" descr="54304a243f2d903b85e97796b334a0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825" y="3910911"/>
            <a:ext cx="2852767" cy="160885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标题 1"/>
          <p:cNvSpPr txBox="1"/>
          <p:nvPr/>
        </p:nvSpPr>
        <p:spPr>
          <a:xfrm>
            <a:off x="5353050" y="71729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br>
              <a:rPr lang="zh-CN" altLang="en-US" dirty="0"/>
            </a:br>
            <a:endParaRPr lang="zh-CN" altLang="en-US" dirty="0"/>
          </a:p>
        </p:txBody>
      </p:sp>
      <p:sp>
        <p:nvSpPr>
          <p:cNvPr id="3" name="文本框 2"/>
          <p:cNvSpPr txBox="1"/>
          <p:nvPr/>
        </p:nvSpPr>
        <p:spPr>
          <a:xfrm>
            <a:off x="534444" y="551784"/>
            <a:ext cx="77918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现有方案</a:t>
            </a:r>
          </a:p>
        </p:txBody>
      </p:sp>
      <p:pic>
        <p:nvPicPr>
          <p:cNvPr id="6" name="图片 5" descr="8008bd2c7d33410fbc4da83344a21f7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242" y="1288821"/>
            <a:ext cx="1945139" cy="3313796"/>
          </a:xfrm>
          <a:prstGeom prst="rect">
            <a:avLst/>
          </a:prstGeom>
        </p:spPr>
      </p:pic>
      <p:sp>
        <p:nvSpPr>
          <p:cNvPr id="9" name="文本框 8"/>
          <p:cNvSpPr txBox="1"/>
          <p:nvPr/>
        </p:nvSpPr>
        <p:spPr>
          <a:xfrm>
            <a:off x="509675" y="4947285"/>
            <a:ext cx="296227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仍需人全场推行</a:t>
            </a:r>
          </a:p>
          <a:p>
            <a:r>
              <a:rPr lang="zh-CN" altLang="en-US" dirty="0"/>
              <a:t>贴边球 / 围网球捡不到</a:t>
            </a:r>
            <a:endParaRPr lang="en-US" altLang="zh-CN" dirty="0"/>
          </a:p>
          <a:p>
            <a:r>
              <a:rPr lang="zh-CN" altLang="en-US" dirty="0">
                <a:sym typeface="+mn-ea"/>
              </a:rPr>
              <a:t>取球与收纳不便</a:t>
            </a:r>
            <a:endParaRPr lang="zh-CN" altLang="en-US" dirty="0"/>
          </a:p>
        </p:txBody>
      </p:sp>
      <p:sp>
        <p:nvSpPr>
          <p:cNvPr id="11" name="文本框 10"/>
          <p:cNvSpPr txBox="1"/>
          <p:nvPr/>
        </p:nvSpPr>
        <p:spPr>
          <a:xfrm>
            <a:off x="475588" y="4777362"/>
            <a:ext cx="3052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手持捡球器</a:t>
            </a: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45018" y="4161218"/>
            <a:ext cx="2691765" cy="184658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64191" y="1245458"/>
            <a:ext cx="1981274" cy="3357159"/>
          </a:xfrm>
          <a:prstGeom prst="rect">
            <a:avLst/>
          </a:prstGeom>
        </p:spPr>
      </p:pic>
      <p:pic>
        <p:nvPicPr>
          <p:cNvPr id="20" name="图片 1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6589" y="4167380"/>
            <a:ext cx="3543453" cy="1840418"/>
          </a:xfrm>
          <a:prstGeom prst="rect">
            <a:avLst/>
          </a:prstGeom>
        </p:spPr>
      </p:pic>
      <p:pic>
        <p:nvPicPr>
          <p:cNvPr id="24" name="图片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264679" y="1654196"/>
            <a:ext cx="6774255" cy="2299209"/>
          </a:xfrm>
          <a:prstGeom prst="rect">
            <a:avLst/>
          </a:prstGeom>
        </p:spPr>
      </p:pic>
      <p:sp>
        <p:nvSpPr>
          <p:cNvPr id="27" name="文本框 26"/>
          <p:cNvSpPr txBox="1"/>
          <p:nvPr/>
        </p:nvSpPr>
        <p:spPr>
          <a:xfrm>
            <a:off x="2837118" y="4803694"/>
            <a:ext cx="3052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市售半自动捡球器</a:t>
            </a:r>
          </a:p>
        </p:txBody>
      </p:sp>
      <p:sp>
        <p:nvSpPr>
          <p:cNvPr id="30" name="文本框 29"/>
          <p:cNvSpPr txBox="1"/>
          <p:nvPr/>
        </p:nvSpPr>
        <p:spPr>
          <a:xfrm>
            <a:off x="2837118" y="5130821"/>
            <a:ext cx="296227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dirty="0"/>
          </a:p>
          <a:p>
            <a:r>
              <a:rPr lang="zh-CN" altLang="en-US" dirty="0"/>
              <a:t>价格昂贵</a:t>
            </a:r>
            <a:endParaRPr lang="en-US" altLang="zh-CN" dirty="0"/>
          </a:p>
          <a:p>
            <a:r>
              <a:rPr lang="zh-CN" altLang="en-US" dirty="0"/>
              <a:t>仍需要人全场推行</a:t>
            </a:r>
          </a:p>
        </p:txBody>
      </p:sp>
      <p:sp>
        <p:nvSpPr>
          <p:cNvPr id="36" name="文本框 35"/>
          <p:cNvSpPr txBox="1"/>
          <p:nvPr/>
        </p:nvSpPr>
        <p:spPr>
          <a:xfrm>
            <a:off x="5264679" y="1195322"/>
            <a:ext cx="305244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 b="1" dirty="0"/>
              <a:t>全自动捡球器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文本框 45"/>
          <p:cNvSpPr txBox="1"/>
          <p:nvPr/>
        </p:nvSpPr>
        <p:spPr>
          <a:xfrm>
            <a:off x="534444" y="551784"/>
            <a:ext cx="4486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技术方案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1869" y="1376079"/>
            <a:ext cx="8370094" cy="4710680"/>
          </a:xfrm>
          <a:prstGeom prst="rect">
            <a:avLst/>
          </a:prstGeom>
        </p:spPr>
      </p:pic>
      <p:sp>
        <p:nvSpPr>
          <p:cNvPr id="43" name="文本框 42"/>
          <p:cNvSpPr txBox="1"/>
          <p:nvPr/>
        </p:nvSpPr>
        <p:spPr>
          <a:xfrm>
            <a:off x="534444" y="1330762"/>
            <a:ext cx="28956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高位RGB相机</a:t>
            </a:r>
          </a:p>
          <a:p>
            <a:r>
              <a:rPr lang="zh-CN" altLang="en-US" dirty="0"/>
              <a:t>  ↓ 图像</a:t>
            </a:r>
          </a:p>
          <a:p>
            <a:r>
              <a:rPr lang="zh-CN" altLang="en-US" dirty="0"/>
              <a:t>PC视觉模块</a:t>
            </a:r>
          </a:p>
          <a:p>
            <a:r>
              <a:rPr lang="zh-CN" altLang="en-US" dirty="0"/>
              <a:t>  ↓ 球坐标 + 小车位姿</a:t>
            </a:r>
          </a:p>
          <a:p>
            <a:r>
              <a:rPr lang="zh-CN" altLang="en-US" dirty="0"/>
              <a:t>任务规划/路径规划</a:t>
            </a:r>
          </a:p>
          <a:p>
            <a:r>
              <a:rPr lang="zh-CN" altLang="en-US" dirty="0"/>
              <a:t>  ↓ 目标位姿 / Sweep任务</a:t>
            </a:r>
          </a:p>
          <a:p>
            <a:r>
              <a:rPr lang="zh-CN" altLang="en-US" dirty="0"/>
              <a:t>小车控制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聚拢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车载RGBD</a:t>
            </a:r>
          </a:p>
          <a:p>
            <a:r>
              <a:rPr lang="zh-CN" altLang="en-US" dirty="0"/>
              <a:t>  ↓ 球3D坐标</a:t>
            </a:r>
          </a:p>
          <a:p>
            <a:r>
              <a:rPr lang="zh-CN" altLang="en-US" dirty="0"/>
              <a:t>机械臂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抓取 → 后方球袋</a:t>
            </a:r>
          </a:p>
          <a:p>
            <a:r>
              <a:rPr lang="zh-CN" altLang="en-US" dirty="0"/>
              <a:t>  ↓</a:t>
            </a:r>
          </a:p>
          <a:p>
            <a:r>
              <a:rPr lang="zh-CN" altLang="en-US" dirty="0"/>
              <a:t>高位相机复检 → 重规划</a:t>
            </a:r>
          </a:p>
        </p:txBody>
      </p:sp>
      <p:sp>
        <p:nvSpPr>
          <p:cNvPr id="4" name="Text 0"/>
          <p:cNvSpPr/>
          <p:nvPr/>
        </p:nvSpPr>
        <p:spPr>
          <a:xfrm>
            <a:off x="9222484" y="514767"/>
            <a:ext cx="2895600" cy="6217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1F2937"/>
                </a:solidFill>
                <a:latin typeface="Impact" panose="020B0806030902050204" charset="0"/>
                <a:cs typeface="Impact" panose="020B0806030902050204" charset="0"/>
              </a:rPr>
              <a:t>TennisBot</a:t>
            </a:r>
            <a:endParaRPr lang="en-US" sz="4400" dirty="0">
              <a:latin typeface="Impact" panose="020B0806030902050204" charset="0"/>
              <a:cs typeface="Impact" panose="020B080603090205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58368" y="1169086"/>
            <a:ext cx="96012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复用网球场鹰眼系统高清摄像头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在</a:t>
            </a:r>
            <a:r>
              <a:rPr lang="en-US" altLang="zh-CN" sz="1600" b="1" dirty="0">
                <a:solidFill>
                  <a:srgbClr val="6B7280"/>
                </a:solidFill>
              </a:rPr>
              <a:t>demo</a:t>
            </a:r>
            <a:r>
              <a:rPr lang="zh-CN" altLang="en-US" sz="1600" b="1" dirty="0">
                <a:solidFill>
                  <a:srgbClr val="6B7280"/>
                </a:solidFill>
              </a:rPr>
              <a:t>中采用</a:t>
            </a:r>
            <a:r>
              <a:rPr lang="en-US" altLang="zh-CN" sz="1600" b="1" dirty="0">
                <a:solidFill>
                  <a:srgbClr val="6B7280"/>
                </a:solidFill>
              </a:rPr>
              <a:t>2.8m 1080P RGB</a:t>
            </a:r>
            <a:r>
              <a:rPr lang="zh-CN" altLang="en-US" sz="1600" b="1" dirty="0">
                <a:solidFill>
                  <a:srgbClr val="6B7280"/>
                </a:solidFill>
              </a:rPr>
              <a:t>摄像头</a:t>
            </a:r>
            <a:endParaRPr lang="en-US" sz="1600" b="1" dirty="0"/>
          </a:p>
        </p:txBody>
      </p:sp>
      <p:grpSp>
        <p:nvGrpSpPr>
          <p:cNvPr id="49" name="组合 48"/>
          <p:cNvGrpSpPr/>
          <p:nvPr/>
        </p:nvGrpSpPr>
        <p:grpSpPr>
          <a:xfrm>
            <a:off x="911352" y="2369311"/>
            <a:ext cx="3145536" cy="1261872"/>
            <a:chOff x="929640" y="1864360"/>
            <a:chExt cx="3145536" cy="1261872"/>
          </a:xfrm>
        </p:grpSpPr>
        <p:sp>
          <p:nvSpPr>
            <p:cNvPr id="6" name="Shape 4"/>
            <p:cNvSpPr/>
            <p:nvPr/>
          </p:nvSpPr>
          <p:spPr>
            <a:xfrm>
              <a:off x="929640" y="1864360"/>
              <a:ext cx="73152" cy="1261872"/>
            </a:xfrm>
            <a:prstGeom prst="rect">
              <a:avLst/>
            </a:prstGeom>
            <a:solidFill>
              <a:srgbClr val="2563EB"/>
            </a:solidFill>
            <a:ln w="12700">
              <a:solidFill>
                <a:srgbClr val="2563EB">
                  <a:alpha val="0"/>
                </a:srgbClr>
              </a:solidFill>
              <a:prstDash val="solid"/>
            </a:ln>
          </p:spPr>
        </p:sp>
        <p:sp>
          <p:nvSpPr>
            <p:cNvPr id="7" name="Text 5"/>
            <p:cNvSpPr/>
            <p:nvPr/>
          </p:nvSpPr>
          <p:spPr>
            <a:xfrm>
              <a:off x="1094232" y="1992376"/>
              <a:ext cx="2971800" cy="22860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600" b="1" dirty="0">
                  <a:solidFill>
                    <a:srgbClr val="1F2937"/>
                  </a:solidFill>
                </a:rPr>
                <a:t>网球定位</a:t>
              </a:r>
              <a:endParaRPr lang="en-US" sz="1600" dirty="0"/>
            </a:p>
          </p:txBody>
        </p:sp>
        <p:sp>
          <p:nvSpPr>
            <p:cNvPr id="8" name="Text 6"/>
            <p:cNvSpPr/>
            <p:nvPr/>
          </p:nvSpPr>
          <p:spPr>
            <a:xfrm>
              <a:off x="1094232" y="2303272"/>
              <a:ext cx="2980944" cy="73152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检测图像中心</a:t>
              </a:r>
              <a:r>
                <a:rPr lang="en-US" sz="1600" dirty="0">
                  <a:solidFill>
                    <a:srgbClr val="1F2937"/>
                  </a:solidFill>
                </a:rPr>
                <a:t> (u, v)</a:t>
              </a:r>
              <a:endParaRPr lang="en-US" sz="16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通过场地四角标定做 Homography</a:t>
              </a:r>
              <a:endParaRPr lang="en-US" sz="1400" dirty="0"/>
            </a:p>
            <a:p>
              <a:pPr marL="0" indent="0">
                <a:buNone/>
              </a:pPr>
              <a:r>
                <a:rPr lang="en-US" sz="1400" dirty="0">
                  <a:solidFill>
                    <a:srgbClr val="1F2937"/>
                  </a:solidFill>
                </a:rPr>
                <a:t>输出每个球的 world 坐标 (x, y)</a:t>
              </a:r>
              <a:endParaRPr lang="en-US" sz="1400" dirty="0"/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947928" y="4392495"/>
            <a:ext cx="3145536" cy="1261872"/>
            <a:chOff x="929640" y="3391408"/>
            <a:chExt cx="3145536" cy="1261872"/>
          </a:xfrm>
        </p:grpSpPr>
        <p:sp>
          <p:nvSpPr>
            <p:cNvPr id="10" name="Shape 8"/>
            <p:cNvSpPr/>
            <p:nvPr/>
          </p:nvSpPr>
          <p:spPr>
            <a:xfrm>
              <a:off x="929640" y="3391408"/>
              <a:ext cx="73152" cy="1261872"/>
            </a:xfrm>
            <a:prstGeom prst="rect">
              <a:avLst/>
            </a:prstGeom>
            <a:solidFill>
              <a:srgbClr val="10B981"/>
            </a:solidFill>
            <a:ln w="12700">
              <a:solidFill>
                <a:srgbClr val="10B981">
                  <a:alpha val="0"/>
                </a:srgbClr>
              </a:solidFill>
              <a:prstDash val="solid"/>
            </a:ln>
          </p:spPr>
        </p:sp>
        <p:sp>
          <p:nvSpPr>
            <p:cNvPr id="11" name="Text 9"/>
            <p:cNvSpPr/>
            <p:nvPr/>
          </p:nvSpPr>
          <p:spPr>
            <a:xfrm>
              <a:off x="1094232" y="3519424"/>
              <a:ext cx="2971800" cy="22860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小车定位</a:t>
              </a:r>
              <a:endParaRPr lang="en-US" sz="1400" dirty="0"/>
            </a:p>
          </p:txBody>
        </p:sp>
        <p:sp>
          <p:nvSpPr>
            <p:cNvPr id="12" name="Text 10"/>
            <p:cNvSpPr/>
            <p:nvPr/>
          </p:nvSpPr>
          <p:spPr>
            <a:xfrm>
              <a:off x="1094232" y="3830320"/>
              <a:ext cx="2980944" cy="73152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rmAutofit/>
            </a:bodyPr>
            <a:lstStyle/>
            <a:p>
              <a:r>
                <a:rPr lang="en-US" sz="1400" dirty="0" err="1">
                  <a:solidFill>
                    <a:srgbClr val="1F2937"/>
                  </a:solidFill>
                </a:rPr>
                <a:t>车顶贴</a:t>
              </a:r>
              <a:r>
                <a:rPr lang="en-US" sz="1400" dirty="0">
                  <a:solidFill>
                    <a:srgbClr val="1F2937"/>
                  </a:solidFill>
                </a:rPr>
                <a:t> </a:t>
              </a:r>
              <a:r>
                <a:rPr lang="en-US" sz="1400" dirty="0" err="1">
                  <a:solidFill>
                    <a:srgbClr val="1F2937"/>
                  </a:solidFill>
                </a:rPr>
                <a:t>AprilTag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同一高位相机识别 tag </a:t>
              </a:r>
              <a:r>
                <a:rPr lang="en-US" sz="1400" dirty="0" err="1">
                  <a:solidFill>
                    <a:srgbClr val="1F2937"/>
                  </a:solidFill>
                </a:rPr>
                <a:t>中心与方向</a:t>
              </a:r>
              <a:endParaRPr lang="en-US" sz="1400" dirty="0">
                <a:solidFill>
                  <a:srgbClr val="1F2937"/>
                </a:solidFill>
              </a:endParaRPr>
            </a:p>
            <a:p>
              <a:r>
                <a:rPr lang="en-US" sz="1400" dirty="0">
                  <a:solidFill>
                    <a:srgbClr val="1F2937"/>
                  </a:solidFill>
                </a:rPr>
                <a:t>输出 robot = (x, y, θ)</a:t>
              </a:r>
            </a:p>
          </p:txBody>
        </p:sp>
      </p:grpSp>
      <p:sp>
        <p:nvSpPr>
          <p:cNvPr id="17" name="Shape 15"/>
          <p:cNvSpPr/>
          <p:nvPr/>
        </p:nvSpPr>
        <p:spPr>
          <a:xfrm>
            <a:off x="5248910" y="2172208"/>
            <a:ext cx="6172200" cy="3977640"/>
          </a:xfrm>
          <a:prstGeom prst="rect">
            <a:avLst/>
          </a:prstGeom>
          <a:solidFill>
            <a:srgbClr val="FFFFFF"/>
          </a:solidFill>
          <a:ln w="15240">
            <a:solidFill>
              <a:srgbClr val="94A3B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74640" y="225348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280"/>
                </a:solidFill>
              </a:rPr>
              <a:t>world frame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060440" y="274828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523480" y="32969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00920" y="265684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700520" y="498856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69400" y="535432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723880" y="4394200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948168" y="3833876"/>
            <a:ext cx="1016000" cy="574040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>
            <a:solidFill>
              <a:srgbClr val="1F29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58988" y="4037583"/>
            <a:ext cx="448056" cy="1097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650" dirty="0"/>
          </a:p>
        </p:txBody>
      </p:sp>
      <p:pic>
        <p:nvPicPr>
          <p:cNvPr id="32" name="图片 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7270" y="3946144"/>
            <a:ext cx="366226" cy="360504"/>
          </a:xfrm>
          <a:prstGeom prst="rect">
            <a:avLst/>
          </a:prstGeom>
        </p:spPr>
      </p:pic>
      <p:sp>
        <p:nvSpPr>
          <p:cNvPr id="33" name="矩形 32"/>
          <p:cNvSpPr/>
          <p:nvPr/>
        </p:nvSpPr>
        <p:spPr>
          <a:xfrm>
            <a:off x="5248910" y="2186430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5247640" y="6063742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1346180" y="2176271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9" name="矩形 38"/>
          <p:cNvSpPr/>
          <p:nvPr/>
        </p:nvSpPr>
        <p:spPr>
          <a:xfrm>
            <a:off x="11344910" y="6053583"/>
            <a:ext cx="76200" cy="73154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1" name="文本框 40"/>
          <p:cNvSpPr txBox="1"/>
          <p:nvPr/>
        </p:nvSpPr>
        <p:spPr>
          <a:xfrm>
            <a:off x="6207760" y="2698321"/>
            <a:ext cx="4927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u,v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3" name="文本框 42"/>
          <p:cNvSpPr txBox="1"/>
          <p:nvPr/>
        </p:nvSpPr>
        <p:spPr>
          <a:xfrm>
            <a:off x="8173170" y="4448712"/>
            <a:ext cx="790998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1000" b="1" dirty="0">
                <a:solidFill>
                  <a:srgbClr val="1F2937"/>
                </a:solidFill>
              </a:rPr>
              <a:t>(</a:t>
            </a:r>
            <a:r>
              <a:rPr lang="en-US" altLang="zh-CN" sz="1000" b="1" dirty="0" err="1">
                <a:solidFill>
                  <a:srgbClr val="1F2937"/>
                </a:solidFill>
              </a:rPr>
              <a:t>x,y,θ</a:t>
            </a:r>
            <a:r>
              <a:rPr lang="en-US" altLang="zh-CN" sz="1000" b="1" dirty="0">
                <a:solidFill>
                  <a:srgbClr val="1F2937"/>
                </a:solidFill>
              </a:rPr>
              <a:t>)</a:t>
            </a:r>
            <a:endParaRPr lang="zh-CN" altLang="en-US" dirty="0"/>
          </a:p>
        </p:txBody>
      </p:sp>
      <p:sp>
        <p:nvSpPr>
          <p:cNvPr id="47" name="文本框 46"/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全局视觉：同时定位网球与小车</a:t>
            </a:r>
          </a:p>
        </p:txBody>
      </p:sp>
      <p:cxnSp>
        <p:nvCxnSpPr>
          <p:cNvPr id="51" name="直接连接符 50"/>
          <p:cNvCxnSpPr/>
          <p:nvPr/>
        </p:nvCxnSpPr>
        <p:spPr>
          <a:xfrm flipH="1" flipV="1">
            <a:off x="7605776" y="3713480"/>
            <a:ext cx="342392" cy="192024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52" name="直接连接符 51"/>
          <p:cNvCxnSpPr/>
          <p:nvPr/>
        </p:nvCxnSpPr>
        <p:spPr>
          <a:xfrm flipH="1">
            <a:off x="7605776" y="4352614"/>
            <a:ext cx="342392" cy="192195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1"/>
              <p:cNvSpPr/>
              <p:nvPr/>
            </p:nvSpPr>
            <p:spPr>
              <a:xfrm>
                <a:off x="579348" y="1227617"/>
                <a:ext cx="9308017" cy="85681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lvl="0"/>
                <a:r>
                  <a:rPr lang="zh-CN" altLang="zh-CN" b="1" dirty="0">
                    <a:latin typeface="+mj-lt"/>
                  </a:rPr>
                  <a:t>核心挑战</a:t>
                </a:r>
                <a:r>
                  <a:rPr lang="zh-CN" altLang="zh-CN" dirty="0">
                    <a:latin typeface="+mj-lt"/>
                  </a:rPr>
                  <a:t>：在网球场等大场景中，捡球效率取决于路径规划；受转向半径、机械臂动作等运动学/动力学约束限制。</a:t>
                </a:r>
              </a:p>
              <a:p>
                <a:pPr lvl="0"/>
                <a:r>
                  <a:rPr lang="zh-CN" altLang="zh-CN" b="1" dirty="0">
                    <a:latin typeface="+mj-lt"/>
                  </a:rPr>
                  <a:t>验证方案</a:t>
                </a:r>
                <a:r>
                  <a:rPr lang="zh-CN" altLang="zh-CN" dirty="0">
                    <a:latin typeface="+mj-lt"/>
                  </a:rPr>
                  <a:t>：仿真环境建模（加入机械臂/转向负担） </a:t>
                </a:r>
                <a14:m>
                  <m:oMath xmlns:m="http://schemas.openxmlformats.org/officeDocument/2006/math">
                    <m:r>
                      <a:rPr lang="zh-CN" altLang="en-US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zh-CN" altLang="en-US">
                        <a:latin typeface="Cambria Math" panose="02040503050406030204" pitchFamily="18" charset="0"/>
                      </a:rPr>
                      <m:t>3×5</m:t>
                    </m:r>
                    <m:r>
                      <m:rPr>
                        <m:nor/>
                      </m:rPr>
                      <a:rPr lang="zh-CN" altLang="en-US" i="0">
                        <a:latin typeface="+mj-lt"/>
                      </a:rPr>
                      <m:t> m</m:t>
                    </m:r>
                  </m:oMath>
                </a14:m>
                <a:r>
                  <a:rPr lang="zh-CN" altLang="zh-CN" dirty="0">
                    <a:latin typeface="+mj-lt"/>
                  </a:rPr>
                  <a:t>真实场景应用验证。</a:t>
                </a:r>
              </a:p>
            </p:txBody>
          </p:sp>
        </mc:Choice>
        <mc:Fallback xmlns="">
          <p:sp>
            <p:nvSpPr>
              <p:cNvPr id="3" name="Text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9348" y="1227617"/>
                <a:ext cx="9308017" cy="856818"/>
              </a:xfrm>
              <a:prstGeom prst="rect">
                <a:avLst/>
              </a:prstGeom>
              <a:blipFill rotWithShape="1">
                <a:blip r:embed="rId9"/>
                <a:stretch>
                  <a:fillRect l="-2" t="-19" r="4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文本框 46"/>
          <p:cNvSpPr txBox="1"/>
          <p:nvPr/>
        </p:nvSpPr>
        <p:spPr>
          <a:xfrm>
            <a:off x="534443" y="551784"/>
            <a:ext cx="696083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路径规划：约束建模与捡球效率优化</a:t>
            </a:r>
          </a:p>
        </p:txBody>
      </p:sp>
      <p:pic>
        <p:nvPicPr>
          <p:cNvPr id="2" name="42da57ebed6c36597536ccee6ec0c2a7">
            <a:hlinkClick r:id="" action="ppaction://media"/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10"/>
          <a:stretch>
            <a:fillRect/>
          </a:stretch>
        </p:blipFill>
        <p:spPr>
          <a:xfrm>
            <a:off x="4041043" y="2735836"/>
            <a:ext cx="4109913" cy="2924049"/>
          </a:xfrm>
          <a:prstGeom prst="rect">
            <a:avLst/>
          </a:prstGeom>
        </p:spPr>
      </p:pic>
      <p:pic>
        <p:nvPicPr>
          <p:cNvPr id="4" name="19bf36658e0dc9832e09d2dfa51630dd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178047" y="2764867"/>
            <a:ext cx="4109913" cy="2924048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1108062" y="5750943"/>
            <a:ext cx="2932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Direct Pick </a:t>
            </a:r>
            <a:r>
              <a:rPr lang="zh-CN" altLang="zh-CN" i="1" dirty="0"/>
              <a:t>(Rosenkrantz et al.)</a:t>
            </a:r>
            <a:r>
              <a:rPr lang="zh-CN" altLang="zh-CN" dirty="0"/>
              <a:t>：贪心/直接捡拾，忽视运动约束。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09494" y="5753433"/>
            <a:ext cx="2796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TSP 2-opt </a:t>
            </a:r>
            <a:r>
              <a:rPr lang="zh-CN" altLang="zh-CN" i="1" dirty="0"/>
              <a:t>(Croes et al.)</a:t>
            </a:r>
            <a:r>
              <a:rPr lang="zh-CN" altLang="zh-CN" dirty="0"/>
              <a:t>：传统旅行商路径优化，未考虑多约束融合。</a:t>
            </a:r>
          </a:p>
        </p:txBody>
      </p:sp>
      <p:pic>
        <p:nvPicPr>
          <p:cNvPr id="8" name="0eeb20e39350ff251f76e335dcc38728">
            <a:hlinkClick r:id="" action="ppaction://media"/>
          </p:cNvPr>
          <p:cNvPicPr>
            <a:picLocks noChangeAspect="1"/>
          </p:cNvPicPr>
          <p:nvPr>
            <a:videoFile r:link="rId6"/>
            <p:extLst>
              <p:ext uri="{DAA4B4D4-6D71-4841-9C94-3DE7FCFB9230}">
                <p14:media xmlns:p14="http://schemas.microsoft.com/office/powerpoint/2010/main" r:embed="rId5"/>
              </p:ext>
            </p:extLst>
          </p:nvPr>
        </p:nvPicPr>
        <p:blipFill>
          <a:blip r:embed="rId12"/>
          <a:stretch>
            <a:fillRect/>
          </a:stretch>
        </p:blipFill>
        <p:spPr>
          <a:xfrm>
            <a:off x="8150956" y="2712833"/>
            <a:ext cx="3997576" cy="2844126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8584899" y="5750943"/>
            <a:ext cx="279621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zh-CN" altLang="zh-CN" dirty="0"/>
              <a:t>KDD </a:t>
            </a:r>
            <a:r>
              <a:rPr lang="zh-CN" altLang="zh-CN" i="1" dirty="0"/>
              <a:t>(Ester et al.)</a:t>
            </a:r>
            <a:r>
              <a:rPr lang="zh-CN" altLang="zh-CN" dirty="0"/>
              <a:t>：基于聚类的路径规划，局限于局部优解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336550" y="2333507"/>
            <a:ext cx="1854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对比</a:t>
            </a:r>
            <a:r>
              <a:rPr lang="en-US" altLang="zh-CN" dirty="0"/>
              <a:t>baseline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835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9835"/>
                            </p:stCondLst>
                            <p:childTnLst>
                              <p:par>
                                <p:cTn id="8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9" dur="9920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9755"/>
                            </p:stCondLst>
                            <p:childTnLst>
                              <p:par>
                                <p:cTn id="11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9962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3" repeatCount="indefinite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14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15" fill="hold">
                      <p:stCondLst>
                        <p:cond delay="0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8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  <p:video>
              <p:cMediaNode vol="80000">
                <p:cTn id="19" repeatCount="indefinite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20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1" fill="hold">
                      <p:stCondLst>
                        <p:cond delay="0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4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  <p:video>
              <p:cMediaNode vol="80000">
                <p:cTn id="25" repeatCount="indefinite" fill="hold" display="0">
                  <p:stCondLst>
                    <p:cond delay="indefinite"/>
                  </p:stCondLst>
                </p:cTn>
                <p:tgtEl>
                  <p:spTgt spid="8"/>
                </p:tgtEl>
              </p:cMediaNode>
            </p:video>
            <p:seq concurrent="1" nextAc="seek">
              <p:cTn id="26" restart="whenNotActive" fill="hold" evtFilter="cancelBubble" nodeType="interactiveSeq">
                <p:stCondLst>
                  <p:cond evt="onClick" delay="0">
                    <p:tgtEl>
                      <p:spTgt spid="8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27" fill="hold">
                      <p:stCondLst>
                        <p:cond delay="0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0" dur="1" fill="hold"/>
                                        <p:tgtEl>
                                          <p:spTgt spid="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8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604059" y="1168482"/>
            <a:ext cx="96012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1600" b="1" dirty="0">
                <a:solidFill>
                  <a:srgbClr val="6B7280"/>
                </a:solidFill>
              </a:rPr>
              <a:t>高位视觉确定小车位姿，进行闭环导航</a:t>
            </a:r>
            <a:endParaRPr lang="en-US" altLang="zh-CN" sz="16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1600" b="1" dirty="0">
              <a:solidFill>
                <a:srgbClr val="6B7280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 err="1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小车闭环导航</a:t>
            </a:r>
            <a:endParaRPr lang="zh-CN" altLang="en-US" sz="3200" b="1" dirty="0">
              <a:solidFill>
                <a:schemeClr val="accent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j-cs"/>
            </a:endParaRPr>
          </a:p>
        </p:txBody>
      </p:sp>
      <p:sp>
        <p:nvSpPr>
          <p:cNvPr id="4" name="Shape 3"/>
          <p:cNvSpPr/>
          <p:nvPr/>
        </p:nvSpPr>
        <p:spPr>
          <a:xfrm>
            <a:off x="1815788" y="1928995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7E6"/>
          </a:solidFill>
          <a:ln w="12700">
            <a:solidFill>
              <a:srgbClr val="FCD34D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1870652" y="2002147"/>
            <a:ext cx="1216152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目标位姿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(xₜ,yₜ,θₜ)</a:t>
            </a:r>
            <a:endParaRPr lang="en-US" sz="1100" dirty="0"/>
          </a:p>
        </p:txBody>
      </p:sp>
      <p:sp>
        <p:nvSpPr>
          <p:cNvPr id="14" name="Shape 5"/>
          <p:cNvSpPr/>
          <p:nvPr/>
        </p:nvSpPr>
        <p:spPr>
          <a:xfrm>
            <a:off x="2499774" y="2741715"/>
            <a:ext cx="0" cy="688525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6" name="Shape 6"/>
          <p:cNvSpPr/>
          <p:nvPr/>
        </p:nvSpPr>
        <p:spPr>
          <a:xfrm>
            <a:off x="757352" y="365065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28" name="Text 7"/>
          <p:cNvSpPr/>
          <p:nvPr/>
        </p:nvSpPr>
        <p:spPr>
          <a:xfrm>
            <a:off x="812216" y="3723802"/>
            <a:ext cx="1216152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误差计算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eₓ,eᵧ,eθ</a:t>
            </a:r>
            <a:endParaRPr lang="en-US" sz="1100" dirty="0"/>
          </a:p>
        </p:txBody>
      </p:sp>
      <p:sp>
        <p:nvSpPr>
          <p:cNvPr id="30" name="Shape 8"/>
          <p:cNvSpPr/>
          <p:nvPr/>
        </p:nvSpPr>
        <p:spPr>
          <a:xfrm>
            <a:off x="2304404" y="3906682"/>
            <a:ext cx="640080" cy="0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</p:sp>
      <p:grpSp>
        <p:nvGrpSpPr>
          <p:cNvPr id="2" name="组合 1"/>
          <p:cNvGrpSpPr/>
          <p:nvPr/>
        </p:nvGrpSpPr>
        <p:grpSpPr>
          <a:xfrm>
            <a:off x="3192230" y="3650650"/>
            <a:ext cx="1325880" cy="502920"/>
            <a:chOff x="2842184" y="3650650"/>
            <a:chExt cx="1325880" cy="502920"/>
          </a:xfrm>
        </p:grpSpPr>
        <p:sp>
          <p:nvSpPr>
            <p:cNvPr id="34" name="Shape 9"/>
            <p:cNvSpPr/>
            <p:nvPr/>
          </p:nvSpPr>
          <p:spPr>
            <a:xfrm>
              <a:off x="2842184" y="3650650"/>
              <a:ext cx="1325880" cy="502920"/>
            </a:xfrm>
            <a:prstGeom prst="roundRect">
              <a:avLst>
                <a:gd name="adj" fmla="val 10909"/>
              </a:avLst>
            </a:prstGeom>
            <a:solidFill>
              <a:srgbClr val="EAF3FF"/>
            </a:solidFill>
            <a:ln w="12700">
              <a:solidFill>
                <a:srgbClr val="BBD9FF"/>
              </a:solidFill>
              <a:prstDash val="solid"/>
            </a:ln>
          </p:spPr>
        </p:sp>
        <p:sp>
          <p:nvSpPr>
            <p:cNvPr id="38" name="Text 10"/>
            <p:cNvSpPr/>
            <p:nvPr/>
          </p:nvSpPr>
          <p:spPr>
            <a:xfrm>
              <a:off x="2897048" y="3723802"/>
              <a:ext cx="1216152" cy="3566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2937"/>
                  </a:solidFill>
                </a:rPr>
                <a:t>P/PID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F2937"/>
                  </a:solidFill>
                </a:rPr>
                <a:t>控制器</a:t>
              </a:r>
              <a:endParaRPr lang="en-US" sz="1100" dirty="0"/>
            </a:p>
          </p:txBody>
        </p:sp>
      </p:grpSp>
      <p:sp>
        <p:nvSpPr>
          <p:cNvPr id="42" name="Shape 11"/>
          <p:cNvSpPr/>
          <p:nvPr/>
        </p:nvSpPr>
        <p:spPr>
          <a:xfrm flipH="1">
            <a:off x="3927846" y="4292765"/>
            <a:ext cx="0" cy="539489"/>
          </a:xfrm>
          <a:prstGeom prst="line">
            <a:avLst/>
          </a:prstGeom>
          <a:noFill/>
          <a:ln w="15240">
            <a:solidFill>
              <a:srgbClr val="2563EB"/>
            </a:solidFill>
            <a:prstDash val="solid"/>
            <a:headEnd type="none"/>
            <a:tailEnd type="triangle"/>
          </a:ln>
        </p:spPr>
      </p:sp>
      <p:sp>
        <p:nvSpPr>
          <p:cNvPr id="45" name="Shape 12"/>
          <p:cNvSpPr/>
          <p:nvPr/>
        </p:nvSpPr>
        <p:spPr>
          <a:xfrm>
            <a:off x="3187914" y="4971450"/>
            <a:ext cx="1325880" cy="502920"/>
          </a:xfrm>
          <a:prstGeom prst="roundRect">
            <a:avLst>
              <a:gd name="adj" fmla="val 10909"/>
            </a:avLst>
          </a:prstGeom>
          <a:solidFill>
            <a:srgbClr val="EAFBF4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50" name="Text 13"/>
          <p:cNvSpPr/>
          <p:nvPr/>
        </p:nvSpPr>
        <p:spPr>
          <a:xfrm>
            <a:off x="3242778" y="5044602"/>
            <a:ext cx="1216152" cy="35661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麦克纳姆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1F2937"/>
                </a:solidFill>
              </a:rPr>
              <a:t>vx,vy,ω</a:t>
            </a:r>
            <a:endParaRPr lang="en-US" sz="1100" dirty="0"/>
          </a:p>
        </p:txBody>
      </p:sp>
      <p:sp>
        <p:nvSpPr>
          <p:cNvPr id="54" name="Shape 14"/>
          <p:cNvSpPr/>
          <p:nvPr/>
        </p:nvSpPr>
        <p:spPr>
          <a:xfrm flipH="1">
            <a:off x="2328378" y="5214808"/>
            <a:ext cx="598424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grpSp>
        <p:nvGrpSpPr>
          <p:cNvPr id="63" name="组合 62"/>
          <p:cNvGrpSpPr/>
          <p:nvPr/>
        </p:nvGrpSpPr>
        <p:grpSpPr>
          <a:xfrm>
            <a:off x="736306" y="4971450"/>
            <a:ext cx="1325880" cy="502920"/>
            <a:chOff x="8969248" y="2021866"/>
            <a:chExt cx="1325880" cy="502920"/>
          </a:xfrm>
        </p:grpSpPr>
        <p:sp>
          <p:nvSpPr>
            <p:cNvPr id="56" name="Shape 15"/>
            <p:cNvSpPr/>
            <p:nvPr/>
          </p:nvSpPr>
          <p:spPr>
            <a:xfrm>
              <a:off x="8969248" y="2021866"/>
              <a:ext cx="1325880" cy="502920"/>
            </a:xfrm>
            <a:prstGeom prst="roundRect">
              <a:avLst>
                <a:gd name="adj" fmla="val 10909"/>
              </a:avLst>
            </a:prstGeom>
            <a:solidFill>
              <a:srgbClr val="F8FAFC"/>
            </a:solidFill>
            <a:ln w="12700">
              <a:solidFill>
                <a:srgbClr val="D1D5DB"/>
              </a:solidFill>
              <a:prstDash val="solid"/>
            </a:ln>
          </p:spPr>
        </p:sp>
        <p:sp>
          <p:nvSpPr>
            <p:cNvPr id="58" name="Text 16"/>
            <p:cNvSpPr/>
            <p:nvPr/>
          </p:nvSpPr>
          <p:spPr>
            <a:xfrm>
              <a:off x="9024112" y="2095018"/>
              <a:ext cx="1216152" cy="35661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100" b="1" dirty="0">
                  <a:solidFill>
                    <a:srgbClr val="1F2937"/>
                  </a:solidFill>
                </a:rPr>
                <a:t>高位相机</a:t>
              </a:r>
              <a:endParaRPr lang="en-US" sz="1100" dirty="0"/>
            </a:p>
            <a:p>
              <a:pPr marL="0" indent="0" algn="ctr">
                <a:buNone/>
              </a:pPr>
              <a:r>
                <a:rPr lang="en-US" sz="1100" b="1" dirty="0">
                  <a:solidFill>
                    <a:srgbClr val="1F2937"/>
                  </a:solidFill>
                </a:rPr>
                <a:t>重新观察</a:t>
              </a:r>
              <a:endParaRPr lang="en-US" sz="1100" dirty="0"/>
            </a:p>
          </p:txBody>
        </p:sp>
      </p:grpSp>
      <p:pic>
        <p:nvPicPr>
          <p:cNvPr id="61" name="图片 6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20407" y="1225144"/>
            <a:ext cx="7603166" cy="4765117"/>
          </a:xfrm>
          <a:prstGeom prst="rect">
            <a:avLst/>
          </a:prstGeom>
        </p:spPr>
      </p:pic>
      <p:sp>
        <p:nvSpPr>
          <p:cNvPr id="65" name="Shape 8"/>
          <p:cNvSpPr/>
          <p:nvPr/>
        </p:nvSpPr>
        <p:spPr>
          <a:xfrm flipV="1">
            <a:off x="1363909" y="4235660"/>
            <a:ext cx="0" cy="539489"/>
          </a:xfrm>
          <a:prstGeom prst="line">
            <a:avLst/>
          </a:prstGeom>
          <a:noFill/>
          <a:ln w="15240">
            <a:solidFill>
              <a:srgbClr val="6B72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 sz="3200" dirty="0"/>
          </a:p>
        </p:txBody>
      </p:sp>
      <p:sp>
        <p:nvSpPr>
          <p:cNvPr id="67" name="Text 17"/>
          <p:cNvSpPr/>
          <p:nvPr/>
        </p:nvSpPr>
        <p:spPr>
          <a:xfrm>
            <a:off x="-1901836" y="5736433"/>
            <a:ext cx="90525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60" dirty="0">
                <a:solidFill>
                  <a:srgbClr val="6B7280"/>
                </a:solidFill>
              </a:rPr>
              <a:t>反馈闭环：高位相机持续更新 robot pose，控制器每帧重算速度。</a:t>
            </a:r>
            <a:endParaRPr lang="en-US" sz="860" dirty="0"/>
          </a:p>
        </p:txBody>
      </p:sp>
      <p:cxnSp>
        <p:nvCxnSpPr>
          <p:cNvPr id="6" name="直接箭头连接符 5"/>
          <p:cNvCxnSpPr/>
          <p:nvPr/>
        </p:nvCxnSpPr>
        <p:spPr>
          <a:xfrm flipH="1" flipV="1">
            <a:off x="5950744" y="2511260"/>
            <a:ext cx="1935956" cy="1139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5950744" y="3429000"/>
            <a:ext cx="1935956" cy="229077"/>
          </a:xfrm>
          <a:prstGeom prst="straightConnector1">
            <a:avLst/>
          </a:prstGeom>
          <a:ln>
            <a:solidFill>
              <a:srgbClr val="00B0F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1" name="文本框 20"/>
          <p:cNvSpPr txBox="1"/>
          <p:nvPr/>
        </p:nvSpPr>
        <p:spPr>
          <a:xfrm>
            <a:off x="6108353" y="3543538"/>
            <a:ext cx="193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Current Direction</a:t>
            </a:r>
            <a:endParaRPr lang="zh-CN" altLang="en-US" dirty="0"/>
          </a:p>
        </p:txBody>
      </p:sp>
      <p:sp>
        <p:nvSpPr>
          <p:cNvPr id="23" name="文本框 22"/>
          <p:cNvSpPr txBox="1"/>
          <p:nvPr/>
        </p:nvSpPr>
        <p:spPr>
          <a:xfrm>
            <a:off x="5214768" y="2753123"/>
            <a:ext cx="19359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Bias</a:t>
            </a:r>
            <a:endParaRPr lang="zh-CN" altLang="en-US" dirty="0"/>
          </a:p>
        </p:txBody>
      </p:sp>
      <p:cxnSp>
        <p:nvCxnSpPr>
          <p:cNvPr id="24" name="直接箭头连接符 23"/>
          <p:cNvCxnSpPr/>
          <p:nvPr/>
        </p:nvCxnSpPr>
        <p:spPr>
          <a:xfrm flipH="1" flipV="1">
            <a:off x="5819292" y="2431915"/>
            <a:ext cx="109798" cy="95912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31" name="文本框 30"/>
          <p:cNvSpPr txBox="1"/>
          <p:nvPr/>
        </p:nvSpPr>
        <p:spPr>
          <a:xfrm>
            <a:off x="6471144" y="2340494"/>
            <a:ext cx="19359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Desired Direction</a:t>
            </a:r>
            <a:endParaRPr lang="zh-CN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7"/>
          <p:cNvSpPr/>
          <p:nvPr/>
        </p:nvSpPr>
        <p:spPr>
          <a:xfrm>
            <a:off x="5838190" y="4996180"/>
            <a:ext cx="3750945" cy="172593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54888" y="1398499"/>
            <a:ext cx="96012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2000" b="1" dirty="0">
                <a:solidFill>
                  <a:srgbClr val="6B7280"/>
                </a:solidFill>
              </a:rPr>
              <a:t>V</a:t>
            </a:r>
            <a:r>
              <a:rPr lang="zh-CN" altLang="en-US" sz="2000" b="1" dirty="0">
                <a:solidFill>
                  <a:srgbClr val="6B7280"/>
                </a:solidFill>
              </a:rPr>
              <a:t>型聚拢结构与特异夹爪结构设计</a:t>
            </a:r>
            <a:endParaRPr lang="en-US" altLang="zh-CN" sz="20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2000" b="1" dirty="0">
              <a:solidFill>
                <a:srgbClr val="6B7280"/>
              </a:solidFill>
            </a:endParaRPr>
          </a:p>
        </p:txBody>
      </p:sp>
      <p:sp>
        <p:nvSpPr>
          <p:cNvPr id="47" name="文本框 46"/>
          <p:cNvSpPr txBox="1"/>
          <p:nvPr/>
        </p:nvSpPr>
        <p:spPr>
          <a:xfrm>
            <a:off x="534444" y="413989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结构设计</a:t>
            </a:r>
          </a:p>
        </p:txBody>
      </p:sp>
      <p:sp>
        <p:nvSpPr>
          <p:cNvPr id="5" name="Text 3"/>
          <p:cNvSpPr/>
          <p:nvPr/>
        </p:nvSpPr>
        <p:spPr>
          <a:xfrm>
            <a:off x="2465705" y="2076704"/>
            <a:ext cx="109728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B7280"/>
                </a:solidFill>
              </a:rPr>
              <a:t>散落球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317750" y="246811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0" name="Shape 5"/>
          <p:cNvSpPr/>
          <p:nvPr/>
        </p:nvSpPr>
        <p:spPr>
          <a:xfrm>
            <a:off x="3277870" y="228523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2" name="Shape 6"/>
          <p:cNvSpPr/>
          <p:nvPr/>
        </p:nvSpPr>
        <p:spPr>
          <a:xfrm>
            <a:off x="2820670" y="3199638"/>
            <a:ext cx="201168" cy="201168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15" name="Shape 7"/>
          <p:cNvSpPr/>
          <p:nvPr/>
        </p:nvSpPr>
        <p:spPr>
          <a:xfrm>
            <a:off x="3937000" y="2898648"/>
            <a:ext cx="1005840" cy="0"/>
          </a:xfrm>
          <a:prstGeom prst="line">
            <a:avLst/>
          </a:prstGeom>
          <a:noFill/>
          <a:ln w="15240">
            <a:solidFill>
              <a:srgbClr val="F59E0B"/>
            </a:solidFill>
            <a:prstDash val="solid"/>
            <a:headEnd type="none"/>
            <a:tailEnd type="triangle"/>
          </a:ln>
        </p:spPr>
      </p:sp>
      <p:sp>
        <p:nvSpPr>
          <p:cNvPr id="18" name="Text 8"/>
          <p:cNvSpPr/>
          <p:nvPr/>
        </p:nvSpPr>
        <p:spPr>
          <a:xfrm>
            <a:off x="4165600" y="2487168"/>
            <a:ext cx="7315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F59E0B"/>
                </a:solidFill>
              </a:rPr>
              <a:t>Sweep</a:t>
            </a:r>
            <a:endParaRPr lang="en-US" sz="800" dirty="0"/>
          </a:p>
        </p:txBody>
      </p:sp>
      <p:sp>
        <p:nvSpPr>
          <p:cNvPr id="22" name="Shape 10"/>
          <p:cNvSpPr/>
          <p:nvPr/>
        </p:nvSpPr>
        <p:spPr>
          <a:xfrm>
            <a:off x="6680200" y="3721608"/>
            <a:ext cx="0" cy="0"/>
          </a:xfrm>
          <a:prstGeom prst="line">
            <a:avLst/>
          </a:prstGeom>
          <a:noFill/>
          <a:ln w="38100">
            <a:solidFill>
              <a:srgbClr val="7C3AED"/>
            </a:solidFill>
            <a:prstDash val="solid"/>
          </a:ln>
        </p:spPr>
      </p:sp>
      <p:sp>
        <p:nvSpPr>
          <p:cNvPr id="29" name="Shape 13"/>
          <p:cNvSpPr/>
          <p:nvPr/>
        </p:nvSpPr>
        <p:spPr>
          <a:xfrm>
            <a:off x="5394960" y="2450719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2" name="Shape 14"/>
          <p:cNvSpPr/>
          <p:nvPr/>
        </p:nvSpPr>
        <p:spPr>
          <a:xfrm>
            <a:off x="6080760" y="2276983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5" name="Shape 15"/>
          <p:cNvSpPr/>
          <p:nvPr/>
        </p:nvSpPr>
        <p:spPr>
          <a:xfrm>
            <a:off x="6601968" y="2487295"/>
            <a:ext cx="164592" cy="164592"/>
          </a:xfrm>
          <a:prstGeom prst="ellipse">
            <a:avLst/>
          </a:prstGeom>
          <a:solidFill>
            <a:srgbClr val="D9F99D"/>
          </a:solidFill>
          <a:ln w="10160">
            <a:solidFill>
              <a:srgbClr val="65A30D"/>
            </a:solidFill>
            <a:prstDash val="solid"/>
          </a:ln>
        </p:spPr>
      </p:sp>
      <p:sp>
        <p:nvSpPr>
          <p:cNvPr id="37" name="Shape 16"/>
          <p:cNvSpPr/>
          <p:nvPr/>
        </p:nvSpPr>
        <p:spPr>
          <a:xfrm>
            <a:off x="7137400" y="2898648"/>
            <a:ext cx="1005840" cy="0"/>
          </a:xfrm>
          <a:prstGeom prst="line">
            <a:avLst/>
          </a:prstGeom>
          <a:noFill/>
          <a:ln w="15240">
            <a:solidFill>
              <a:srgbClr val="10B981"/>
            </a:solidFill>
            <a:prstDash val="solid"/>
            <a:headEnd type="none"/>
            <a:tailEnd type="triangle"/>
          </a:ln>
        </p:spPr>
      </p:sp>
      <p:sp>
        <p:nvSpPr>
          <p:cNvPr id="40" name="Shape 17"/>
          <p:cNvSpPr/>
          <p:nvPr/>
        </p:nvSpPr>
        <p:spPr>
          <a:xfrm>
            <a:off x="10017760" y="2359152"/>
            <a:ext cx="1417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grpSp>
        <p:nvGrpSpPr>
          <p:cNvPr id="21" name="组合 20"/>
          <p:cNvGrpSpPr/>
          <p:nvPr/>
        </p:nvGrpSpPr>
        <p:grpSpPr>
          <a:xfrm>
            <a:off x="10128250" y="2472055"/>
            <a:ext cx="1188720" cy="667385"/>
            <a:chOff x="13731" y="3960"/>
            <a:chExt cx="1872" cy="1051"/>
          </a:xfrm>
        </p:grpSpPr>
        <p:sp>
          <p:nvSpPr>
            <p:cNvPr id="43" name="Text 18"/>
            <p:cNvSpPr/>
            <p:nvPr/>
          </p:nvSpPr>
          <p:spPr>
            <a:xfrm>
              <a:off x="13731" y="3960"/>
              <a:ext cx="1872" cy="346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850" b="1" dirty="0">
                  <a:solidFill>
                    <a:srgbClr val="000000"/>
                  </a:solidFill>
                </a:rPr>
                <a:t>Collection</a:t>
              </a:r>
              <a:endParaRPr lang="en-US" sz="850" dirty="0"/>
            </a:p>
            <a:p>
              <a:pPr marL="0" indent="0" algn="ctr">
                <a:buNone/>
              </a:pPr>
              <a:r>
                <a:rPr lang="en-US" sz="850" b="1" dirty="0">
                  <a:solidFill>
                    <a:srgbClr val="000000"/>
                  </a:solidFill>
                </a:rPr>
                <a:t>Zone</a:t>
              </a:r>
              <a:endParaRPr lang="en-US" sz="850" dirty="0"/>
            </a:p>
          </p:txBody>
        </p:sp>
        <p:sp>
          <p:nvSpPr>
            <p:cNvPr id="46" name="Shape 19"/>
            <p:cNvSpPr/>
            <p:nvPr/>
          </p:nvSpPr>
          <p:spPr>
            <a:xfrm>
              <a:off x="13976" y="4493"/>
              <a:ext cx="230" cy="230"/>
            </a:xfrm>
            <a:prstGeom prst="ellipse">
              <a:avLst/>
            </a:prstGeom>
            <a:solidFill>
              <a:srgbClr val="D9F99D"/>
            </a:solidFill>
            <a:ln w="10160">
              <a:solidFill>
                <a:srgbClr val="65A30D"/>
              </a:solidFill>
              <a:prstDash val="solid"/>
            </a:ln>
          </p:spPr>
        </p:sp>
        <p:sp>
          <p:nvSpPr>
            <p:cNvPr id="49" name="Shape 20"/>
            <p:cNvSpPr/>
            <p:nvPr/>
          </p:nvSpPr>
          <p:spPr>
            <a:xfrm>
              <a:off x="14451" y="4522"/>
              <a:ext cx="230" cy="230"/>
            </a:xfrm>
            <a:prstGeom prst="ellipse">
              <a:avLst/>
            </a:prstGeom>
            <a:solidFill>
              <a:srgbClr val="D9F99D"/>
            </a:solidFill>
            <a:ln w="10160">
              <a:solidFill>
                <a:srgbClr val="65A30D"/>
              </a:solidFill>
              <a:prstDash val="solid"/>
            </a:ln>
          </p:spPr>
        </p:sp>
        <p:sp>
          <p:nvSpPr>
            <p:cNvPr id="52" name="Shape 21"/>
            <p:cNvSpPr/>
            <p:nvPr/>
          </p:nvSpPr>
          <p:spPr>
            <a:xfrm>
              <a:off x="14221" y="4781"/>
              <a:ext cx="230" cy="230"/>
            </a:xfrm>
            <a:prstGeom prst="ellipse">
              <a:avLst/>
            </a:prstGeom>
            <a:solidFill>
              <a:srgbClr val="D9F99D"/>
            </a:solidFill>
            <a:ln w="10160">
              <a:solidFill>
                <a:srgbClr val="65A30D"/>
              </a:solidFill>
              <a:prstDash val="solid"/>
            </a:ln>
          </p:spPr>
        </p:sp>
      </p:grpSp>
      <p:sp>
        <p:nvSpPr>
          <p:cNvPr id="55" name="Text 1"/>
          <p:cNvSpPr/>
          <p:nvPr/>
        </p:nvSpPr>
        <p:spPr>
          <a:xfrm>
            <a:off x="755269" y="3982999"/>
            <a:ext cx="96012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6B7280"/>
                </a:solidFill>
              </a:rPr>
              <a:t>特异夹爪结构设计</a:t>
            </a:r>
            <a:endParaRPr lang="en-US" altLang="zh-CN" sz="2000" b="1" dirty="0">
              <a:solidFill>
                <a:srgbClr val="6B7280"/>
              </a:solidFill>
            </a:endParaRPr>
          </a:p>
          <a:p>
            <a:pPr marL="0" indent="0">
              <a:buNone/>
            </a:pPr>
            <a:endParaRPr lang="en-US" altLang="zh-CN" sz="2000" b="1" dirty="0">
              <a:solidFill>
                <a:srgbClr val="6B7280"/>
              </a:solidFill>
            </a:endParaRPr>
          </a:p>
        </p:txBody>
      </p:sp>
      <p:grpSp>
        <p:nvGrpSpPr>
          <p:cNvPr id="28" name="组合 27"/>
          <p:cNvGrpSpPr/>
          <p:nvPr/>
        </p:nvGrpSpPr>
        <p:grpSpPr>
          <a:xfrm>
            <a:off x="7526020" y="641985"/>
            <a:ext cx="3108960" cy="1005840"/>
            <a:chOff x="6344" y="504"/>
            <a:chExt cx="4896" cy="1584"/>
          </a:xfrm>
        </p:grpSpPr>
        <p:sp>
          <p:nvSpPr>
            <p:cNvPr id="59" name="Shape 22"/>
            <p:cNvSpPr/>
            <p:nvPr/>
          </p:nvSpPr>
          <p:spPr>
            <a:xfrm>
              <a:off x="6344" y="504"/>
              <a:ext cx="4896" cy="1584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Shape 23"/>
            <p:cNvSpPr/>
            <p:nvPr/>
          </p:nvSpPr>
          <p:spPr>
            <a:xfrm>
              <a:off x="6344" y="504"/>
              <a:ext cx="115" cy="158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66" name="Text 24"/>
            <p:cNvSpPr/>
            <p:nvPr/>
          </p:nvSpPr>
          <p:spPr>
            <a:xfrm>
              <a:off x="6603" y="706"/>
              <a:ext cx="4392" cy="36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机构设计</a:t>
              </a:r>
              <a:endParaRPr lang="en-US" sz="1400" dirty="0"/>
            </a:p>
          </p:txBody>
        </p:sp>
        <p:sp>
          <p:nvSpPr>
            <p:cNvPr id="68" name="Text 25"/>
            <p:cNvSpPr/>
            <p:nvPr/>
          </p:nvSpPr>
          <p:spPr>
            <a:xfrm>
              <a:off x="6603" y="1196"/>
              <a:ext cx="4406" cy="74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固定 V 型推杆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入口宽 60–80 cm，收口 20–30 cm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PVC / 碳杆 / 3D 打印连接件</a:t>
              </a:r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755015" y="2431415"/>
            <a:ext cx="1358265" cy="831215"/>
            <a:chOff x="11978" y="5848"/>
            <a:chExt cx="2139" cy="1309"/>
          </a:xfrm>
        </p:grpSpPr>
        <p:sp>
          <p:nvSpPr>
            <p:cNvPr id="25" name="Shape 23"/>
            <p:cNvSpPr/>
            <p:nvPr/>
          </p:nvSpPr>
          <p:spPr>
            <a:xfrm>
              <a:off x="12517" y="6038"/>
              <a:ext cx="1600" cy="90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27" name="Text 25"/>
            <p:cNvSpPr/>
            <p:nvPr/>
          </p:nvSpPr>
          <p:spPr>
            <a:xfrm>
              <a:off x="12849" y="6358"/>
              <a:ext cx="706" cy="1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650" dirty="0"/>
            </a:p>
          </p:txBody>
        </p:sp>
        <p:pic>
          <p:nvPicPr>
            <p:cNvPr id="2" name="图片 1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73" y="6214"/>
              <a:ext cx="577" cy="568"/>
            </a:xfrm>
            <a:prstGeom prst="rect">
              <a:avLst/>
            </a:prstGeom>
          </p:spPr>
        </p:pic>
        <p:cxnSp>
          <p:nvCxnSpPr>
            <p:cNvPr id="51" name="直接连接符 50"/>
            <p:cNvCxnSpPr/>
            <p:nvPr/>
          </p:nvCxnSpPr>
          <p:spPr>
            <a:xfrm flipH="1" flipV="1">
              <a:off x="11978" y="5848"/>
              <a:ext cx="539" cy="302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直接连接符 5"/>
            <p:cNvCxnSpPr/>
            <p:nvPr/>
          </p:nvCxnSpPr>
          <p:spPr>
            <a:xfrm flipH="1">
              <a:off x="11978" y="6855"/>
              <a:ext cx="539" cy="303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" name="组合 8"/>
          <p:cNvGrpSpPr/>
          <p:nvPr/>
        </p:nvGrpSpPr>
        <p:grpSpPr>
          <a:xfrm rot="10800000">
            <a:off x="8572500" y="2421255"/>
            <a:ext cx="1358265" cy="831215"/>
            <a:chOff x="11978" y="5848"/>
            <a:chExt cx="2139" cy="1309"/>
          </a:xfrm>
        </p:grpSpPr>
        <p:sp>
          <p:nvSpPr>
            <p:cNvPr id="11" name="Shape 23"/>
            <p:cNvSpPr/>
            <p:nvPr/>
          </p:nvSpPr>
          <p:spPr>
            <a:xfrm>
              <a:off x="12517" y="6038"/>
              <a:ext cx="1600" cy="904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 w="12700">
              <a:solidFill>
                <a:srgbClr val="1F2937"/>
              </a:solidFill>
              <a:prstDash val="solid"/>
            </a:ln>
          </p:spPr>
        </p:sp>
        <p:sp>
          <p:nvSpPr>
            <p:cNvPr id="13" name="Text 25"/>
            <p:cNvSpPr/>
            <p:nvPr/>
          </p:nvSpPr>
          <p:spPr>
            <a:xfrm>
              <a:off x="12849" y="6358"/>
              <a:ext cx="706" cy="17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endParaRPr lang="en-US" sz="650" dirty="0"/>
            </a:p>
          </p:txBody>
        </p:sp>
        <p:pic>
          <p:nvPicPr>
            <p:cNvPr id="14" name="图片 13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2673" y="6214"/>
              <a:ext cx="577" cy="568"/>
            </a:xfrm>
            <a:prstGeom prst="rect">
              <a:avLst/>
            </a:prstGeom>
          </p:spPr>
        </p:pic>
        <p:cxnSp>
          <p:nvCxnSpPr>
            <p:cNvPr id="16" name="直接连接符 15"/>
            <p:cNvCxnSpPr/>
            <p:nvPr/>
          </p:nvCxnSpPr>
          <p:spPr>
            <a:xfrm flipH="1" flipV="1">
              <a:off x="11978" y="5848"/>
              <a:ext cx="539" cy="302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直接连接符 16"/>
            <p:cNvCxnSpPr/>
            <p:nvPr/>
          </p:nvCxnSpPr>
          <p:spPr>
            <a:xfrm flipH="1">
              <a:off x="11978" y="6855"/>
              <a:ext cx="539" cy="303"/>
            </a:xfrm>
            <a:prstGeom prst="line">
              <a:avLst/>
            </a:prstGeom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0" name="图片 2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80490" y="2810510"/>
            <a:ext cx="5299710" cy="4478655"/>
          </a:xfrm>
          <a:prstGeom prst="rect">
            <a:avLst/>
          </a:prstGeom>
        </p:spPr>
      </p:pic>
      <p:grpSp>
        <p:nvGrpSpPr>
          <p:cNvPr id="31" name="组合 30"/>
          <p:cNvGrpSpPr/>
          <p:nvPr/>
        </p:nvGrpSpPr>
        <p:grpSpPr>
          <a:xfrm>
            <a:off x="7526020" y="3582670"/>
            <a:ext cx="3108960" cy="1005840"/>
            <a:chOff x="6344" y="504"/>
            <a:chExt cx="4896" cy="1584"/>
          </a:xfrm>
        </p:grpSpPr>
        <p:sp>
          <p:nvSpPr>
            <p:cNvPr id="33" name="Shape 22"/>
            <p:cNvSpPr/>
            <p:nvPr/>
          </p:nvSpPr>
          <p:spPr>
            <a:xfrm>
              <a:off x="6344" y="504"/>
              <a:ext cx="4896" cy="1584"/>
            </a:xfrm>
            <a:prstGeom prst="roundRect">
              <a:avLst>
                <a:gd name="adj" fmla="val 7273"/>
              </a:avLst>
            </a:prstGeom>
            <a:solidFill>
              <a:srgbClr val="FFFFFF"/>
            </a:solidFill>
            <a:ln w="12700">
              <a:solidFill>
                <a:srgbClr val="D1D5DB"/>
              </a:solidFill>
              <a:prstDash val="solid"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34" name="Shape 23"/>
            <p:cNvSpPr/>
            <p:nvPr/>
          </p:nvSpPr>
          <p:spPr>
            <a:xfrm>
              <a:off x="6344" y="504"/>
              <a:ext cx="115" cy="1584"/>
            </a:xfrm>
            <a:prstGeom prst="rect">
              <a:avLst/>
            </a:prstGeom>
            <a:solidFill>
              <a:srgbClr val="7C3AED"/>
            </a:solidFill>
            <a:ln w="12700">
              <a:solidFill>
                <a:srgbClr val="7C3AED">
                  <a:alpha val="0"/>
                </a:srgbClr>
              </a:solidFill>
              <a:prstDash val="solid"/>
            </a:ln>
          </p:spPr>
        </p:sp>
        <p:sp>
          <p:nvSpPr>
            <p:cNvPr id="36" name="Text 24"/>
            <p:cNvSpPr/>
            <p:nvPr/>
          </p:nvSpPr>
          <p:spPr>
            <a:xfrm>
              <a:off x="6603" y="706"/>
              <a:ext cx="4392" cy="360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1F2937"/>
                  </a:solidFill>
                </a:rPr>
                <a:t>机构设计</a:t>
              </a:r>
              <a:endParaRPr lang="en-US" sz="1400" dirty="0"/>
            </a:p>
          </p:txBody>
        </p:sp>
        <p:sp>
          <p:nvSpPr>
            <p:cNvPr id="38" name="Text 25"/>
            <p:cNvSpPr/>
            <p:nvPr/>
          </p:nvSpPr>
          <p:spPr>
            <a:xfrm>
              <a:off x="6603" y="1196"/>
              <a:ext cx="4406" cy="749"/>
            </a:xfrm>
            <a:prstGeom prst="rect">
              <a:avLst/>
            </a:prstGeom>
            <a:noFill/>
          </p:spPr>
          <p:txBody>
            <a:bodyPr wrap="square" lIns="254" tIns="254" rIns="254" bIns="254" rtlCol="0" anchor="ctr">
              <a:noAutofit/>
            </a:bodyPr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延长原有夹爪</a:t>
              </a:r>
            </a:p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保证夹爪能够伸到地面抓取网球</a:t>
              </a:r>
            </a:p>
            <a:p>
              <a:pPr marL="0" indent="0">
                <a:buNone/>
              </a:pPr>
              <a:r>
                <a:rPr lang="en-US" sz="1200" dirty="0">
                  <a:solidFill>
                    <a:srgbClr val="1F2937"/>
                  </a:solidFill>
                </a:rPr>
                <a:t>3D 打印延长件</a:t>
              </a:r>
            </a:p>
          </p:txBody>
        </p:sp>
      </p:grpSp>
      <p:pic>
        <p:nvPicPr>
          <p:cNvPr id="39" name="图片 38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50635" y="5742305"/>
            <a:ext cx="786765" cy="812165"/>
          </a:xfrm>
          <a:prstGeom prst="rect">
            <a:avLst/>
          </a:prstGeom>
        </p:spPr>
      </p:pic>
      <p:pic>
        <p:nvPicPr>
          <p:cNvPr id="41" name="图片 4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84745" y="5180330"/>
            <a:ext cx="774065" cy="798830"/>
          </a:xfrm>
          <a:prstGeom prst="rect">
            <a:avLst/>
          </a:prstGeom>
        </p:spPr>
      </p:pic>
      <p:pic>
        <p:nvPicPr>
          <p:cNvPr id="42" name="图片 4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44230" y="5742305"/>
            <a:ext cx="753745" cy="777875"/>
          </a:xfrm>
          <a:prstGeom prst="rect">
            <a:avLst/>
          </a:prstGeom>
        </p:spPr>
      </p:pic>
      <p:sp>
        <p:nvSpPr>
          <p:cNvPr id="56" name="Text 18"/>
          <p:cNvSpPr/>
          <p:nvPr/>
        </p:nvSpPr>
        <p:spPr>
          <a:xfrm>
            <a:off x="6080760" y="5226050"/>
            <a:ext cx="1332230" cy="4089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b="1" dirty="0">
                <a:solidFill>
                  <a:srgbClr val="000000"/>
                </a:solidFill>
              </a:rPr>
              <a:t>Zone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54888" y="1225144"/>
            <a:ext cx="9601200" cy="5394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altLang="zh-CN" sz="1600" b="1" dirty="0">
                <a:solidFill>
                  <a:srgbClr val="6B7280"/>
                </a:solidFill>
              </a:rPr>
              <a:t>RGBD + </a:t>
            </a:r>
            <a:r>
              <a:rPr lang="en-US" altLang="zh-CN" sz="1600" b="1" dirty="0" err="1">
                <a:solidFill>
                  <a:srgbClr val="6B7280"/>
                </a:solidFill>
              </a:rPr>
              <a:t>Dobot</a:t>
            </a:r>
            <a:r>
              <a:rPr lang="zh-CN" altLang="en-US" sz="1600" b="1" dirty="0">
                <a:solidFill>
                  <a:srgbClr val="6B7280"/>
                </a:solidFill>
              </a:rPr>
              <a:t>，在</a:t>
            </a:r>
            <a:r>
              <a:rPr lang="en-US" altLang="zh-CN" sz="1600" b="1" dirty="0">
                <a:solidFill>
                  <a:srgbClr val="6B7280"/>
                </a:solidFill>
              </a:rPr>
              <a:t>world frame </a:t>
            </a:r>
            <a:r>
              <a:rPr lang="zh-CN" altLang="en-US" sz="1600" b="1" dirty="0">
                <a:solidFill>
                  <a:srgbClr val="6B7280"/>
                </a:solidFill>
              </a:rPr>
              <a:t>之外</a:t>
            </a:r>
            <a:r>
              <a:rPr lang="en-US" altLang="zh-CN" sz="1600" b="1" dirty="0">
                <a:solidFill>
                  <a:srgbClr val="6B7280"/>
                </a:solidFill>
              </a:rPr>
              <a:t> </a:t>
            </a:r>
          </a:p>
        </p:txBody>
      </p:sp>
      <p:sp>
        <p:nvSpPr>
          <p:cNvPr id="47" name="文本框 46"/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机械臂抓取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754888" y="1983498"/>
            <a:ext cx="19411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局部 RGBD</a:t>
            </a:r>
            <a:endParaRPr lang="zh-CN" altLang="en-US" b="1" dirty="0"/>
          </a:p>
        </p:txBody>
      </p:sp>
      <p:sp>
        <p:nvSpPr>
          <p:cNvPr id="15" name="文本框 14"/>
          <p:cNvSpPr txBox="1"/>
          <p:nvPr/>
        </p:nvSpPr>
        <p:spPr>
          <a:xfrm>
            <a:off x="9080369" y="2188011"/>
            <a:ext cx="268428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Collection Zone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RGBD Detect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ball xyz in rgbd_link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坐标变换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ball xyz in arm_base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机械臂抓球</a:t>
            </a:r>
          </a:p>
          <a:p>
            <a:r>
              <a:rPr lang="zh-CN" altLang="en-US" dirty="0"/>
              <a:t>   ↓</a:t>
            </a:r>
          </a:p>
          <a:p>
            <a:r>
              <a:rPr lang="zh-CN" altLang="en-US" dirty="0"/>
              <a:t>固定 Bag Pose</a:t>
            </a:r>
          </a:p>
        </p:txBody>
      </p:sp>
      <p:sp>
        <p:nvSpPr>
          <p:cNvPr id="20" name="文本框 19"/>
          <p:cNvSpPr txBox="1"/>
          <p:nvPr/>
        </p:nvSpPr>
        <p:spPr>
          <a:xfrm>
            <a:off x="754888" y="4427930"/>
            <a:ext cx="142894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b="1" dirty="0"/>
              <a:t>坐标转换</a:t>
            </a:r>
            <a:endParaRPr lang="zh-CN" altLang="en-US" b="1" dirty="0"/>
          </a:p>
        </p:txBody>
      </p:sp>
      <p:pic>
        <p:nvPicPr>
          <p:cNvPr id="24" name="图片 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888" y="4827757"/>
            <a:ext cx="2192172" cy="730724"/>
          </a:xfrm>
          <a:prstGeom prst="rect">
            <a:avLst/>
          </a:prstGeom>
        </p:spPr>
      </p:pic>
      <p:sp>
        <p:nvSpPr>
          <p:cNvPr id="29" name="文本框 28"/>
          <p:cNvSpPr txBox="1"/>
          <p:nvPr/>
        </p:nvSpPr>
        <p:spPr>
          <a:xfrm>
            <a:off x="754888" y="5588976"/>
            <a:ext cx="327819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通过预先标定的 T_arm_rgbd</a:t>
            </a:r>
          </a:p>
          <a:p>
            <a:r>
              <a:rPr lang="zh-CN" altLang="en-US" dirty="0"/>
              <a:t>将球坐标转换到 arm_base</a:t>
            </a:r>
          </a:p>
        </p:txBody>
      </p:sp>
      <p:sp>
        <p:nvSpPr>
          <p:cNvPr id="35" name="文本框 34"/>
          <p:cNvSpPr txBox="1"/>
          <p:nvPr/>
        </p:nvSpPr>
        <p:spPr>
          <a:xfrm>
            <a:off x="754888" y="2505670"/>
            <a:ext cx="374169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工作范围：约 5–40 cm</a:t>
            </a:r>
          </a:p>
          <a:p>
            <a:r>
              <a:rPr lang="zh-CN" altLang="en-US" dirty="0"/>
              <a:t>只观察 Collection Zone</a:t>
            </a:r>
          </a:p>
          <a:p>
            <a:r>
              <a:rPr lang="zh-CN" altLang="en-US" dirty="0"/>
              <a:t>输出网球相对相机的 3D 坐标</a:t>
            </a:r>
          </a:p>
        </p:txBody>
      </p:sp>
      <p:sp>
        <p:nvSpPr>
          <p:cNvPr id="40" name="文本框 39"/>
          <p:cNvSpPr txBox="1"/>
          <p:nvPr/>
        </p:nvSpPr>
        <p:spPr>
          <a:xfrm>
            <a:off x="4261660" y="2007049"/>
            <a:ext cx="609442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zh-CN" altLang="zh-CN" b="1" dirty="0"/>
              <a:t>机械臂固定抓取动作链</a:t>
            </a:r>
          </a:p>
        </p:txBody>
      </p:sp>
      <p:pic>
        <p:nvPicPr>
          <p:cNvPr id="46" name="图片 4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7216" y="3602775"/>
            <a:ext cx="3741699" cy="2833258"/>
          </a:xfrm>
          <a:prstGeom prst="rect">
            <a:avLst/>
          </a:prstGeom>
        </p:spPr>
      </p:pic>
      <p:sp>
        <p:nvSpPr>
          <p:cNvPr id="49" name="文本框 48"/>
          <p:cNvSpPr txBox="1"/>
          <p:nvPr/>
        </p:nvSpPr>
        <p:spPr>
          <a:xfrm>
            <a:off x="4261660" y="2427368"/>
            <a:ext cx="4866774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Detect→ Pregrasp→ Approach</a:t>
            </a:r>
          </a:p>
          <a:p>
            <a:r>
              <a:rPr lang="zh-CN" altLang="en-US" dirty="0"/>
              <a:t>→ Close→ Lift→ MoveToBag</a:t>
            </a:r>
          </a:p>
          <a:p>
            <a:r>
              <a:rPr lang="zh-CN" altLang="en-US" dirty="0"/>
              <a:t>→ Release→ Return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硬件购置与安装</a:t>
            </a:r>
          </a:p>
        </p:txBody>
      </p:sp>
      <p:pic>
        <p:nvPicPr>
          <p:cNvPr id="10" name="图片 9" descr="屏幕截图 2026-09-01 10534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99" y="1233805"/>
            <a:ext cx="8116570" cy="53276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文本框 46"/>
          <p:cNvSpPr txBox="1"/>
          <p:nvPr/>
        </p:nvSpPr>
        <p:spPr>
          <a:xfrm>
            <a:off x="534444" y="551784"/>
            <a:ext cx="623211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Demo</a:t>
            </a:r>
            <a:r>
              <a:rPr lang="zh-CN" altLang="en-US" sz="3200" b="1" dirty="0">
                <a:solidFill>
                  <a:schemeClr val="accent2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rPr>
              <a:t>验收与真实场景扩展</a:t>
            </a:r>
          </a:p>
        </p:txBody>
      </p:sp>
      <p:sp>
        <p:nvSpPr>
          <p:cNvPr id="20" name="Text 7"/>
          <p:cNvSpPr/>
          <p:nvPr/>
        </p:nvSpPr>
        <p:spPr>
          <a:xfrm>
            <a:off x="534444" y="2223436"/>
            <a:ext cx="3021370" cy="2807208"/>
          </a:xfrm>
          <a:prstGeom prst="rect">
            <a:avLst/>
          </a:prstGeom>
          <a:noFill/>
        </p:spPr>
        <p:txBody>
          <a:bodyPr wrap="square" lIns="254" tIns="254" rIns="254" bIns="254" rtlCol="0" anchor="ctr">
            <a:normAutofit/>
          </a:bodyPr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1. 高位相机检测 ≥10 个球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2. AprilTag 输出小车 (x,y,θ)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3. goto_pose 视觉闭环导航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4. V 型机构聚拢 2–4 个球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5. 近距离 RGBD + 机械臂抓取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1F2937"/>
                </a:solidFill>
              </a:rPr>
              <a:t>6. 复扫、重规划、返回 Home</a:t>
            </a:r>
            <a:endParaRPr lang="en-US" sz="1600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0923" y="1589355"/>
            <a:ext cx="8381077" cy="4716861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CH-F2F9A2E6986C404535DED6076C83432535683F5A1D8CB0862787B53FF6912170" val="[{&quot;GradientColorId&quot;:&quot;&quot;,&quot;IsFree&quot;:true,&quot;IsGradient&quot;:false,&quot;ImagePath&quot;:&quot;&quot;,&quot;GradientColor&quot;:null,&quot;SimpleColor&quot;:&quot;#FF0000&quot;}]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1133</TotalTime>
  <Words>1077</Words>
  <Application>Microsoft Office PowerPoint</Application>
  <PresentationFormat>宽屏</PresentationFormat>
  <Paragraphs>146</Paragraphs>
  <Slides>11</Slides>
  <Notes>9</Notes>
  <HiddenSlides>0</HiddenSlides>
  <MMClips>3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17" baseType="lpstr">
      <vt:lpstr>Microsoft YaHei</vt:lpstr>
      <vt:lpstr>Microsoft YaHei</vt:lpstr>
      <vt:lpstr>Arial</vt:lpstr>
      <vt:lpstr>Cambria Math</vt:lpstr>
      <vt:lpstr>Impact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TennisBot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TennisBot 开题报告</dc:title>
  <dc:subject>TennisBot Opening Proposal</dc:subject>
  <dc:creator>OpenAI</dc:creator>
  <cp:lastModifiedBy>彦鲁 王</cp:lastModifiedBy>
  <cp:revision>60</cp:revision>
  <dcterms:created xsi:type="dcterms:W3CDTF">2026-08-31T14:51:00Z</dcterms:created>
  <dcterms:modified xsi:type="dcterms:W3CDTF">2026-09-02T00:53:15Z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2052-12.1.0.28043</vt:lpwstr>
  </property>
  <property fmtid="{D5CDD505-2E9C-101B-9397-08002B2CF9AE}" pid="3" name="ICV">
    <vt:lpwstr>9453A6B75C134B3C96615233E5AF8E19_12</vt:lpwstr>
  </property>
</Properties>
</file>