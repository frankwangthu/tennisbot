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83" r:id="rId3"/>
    <p:sldId id="286" r:id="rId4"/>
    <p:sldId id="257" r:id="rId5"/>
    <p:sldId id="258" r:id="rId6"/>
    <p:sldId id="285" r:id="rId7"/>
    <p:sldId id="284" r:id="rId8"/>
    <p:sldId id="287" r:id="rId9"/>
    <p:sldId id="288" r:id="rId10"/>
    <p:sldId id="289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7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28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05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2F0A-75AD-9EB9-213B-90C8A83D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26025-5259-C552-13C0-2D3FEB6B8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FEA0A-5233-204A-B5B5-6262E94D7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89D9E-1912-BF63-9558-F6A587B4A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46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38C7-1726-003B-38CA-DEC01DFA5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0053E-712A-E2AC-AE43-42522F116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B6420-CAD4-75CF-107C-883C35301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63A07-637F-4411-C6F6-59594A847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2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8F0ED-3FAF-4FFC-CEEF-5EA5FEE29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511F5-C151-BE32-08B2-5F6FD9E57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546BA-7FAF-030D-0255-1799B3477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B515E-D304-D69A-BF54-0D6CD4DAD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1A6FD-A128-599F-5F1A-D9EC86579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7AC1DE-0996-1093-D6BC-D1EE89C6B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D9044-7A19-B035-367A-14B687233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F1B9A-AA7C-9AD4-2DB8-E08C2EBC80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00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6117-DC82-AC9E-D610-A94EB3401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5333FC-2C79-13D1-132D-41C11B6FF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01140-7F15-1467-B5B1-D79446024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55435-537C-6CBB-1A7C-F8DCE4CB6C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43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F41084-7F64-B011-2B10-321DE2B8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67743-3E00-5707-6E4F-911B84C30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F776B9-688F-09E8-A2AF-057E5B25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9E82D-F7A6-47F0-B36F-48210157603D}" type="datetimeFigureOut">
              <a:rPr lang="zh-CN" altLang="en-US" smtClean="0"/>
              <a:t>2026/8/31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94B038-E0EE-7869-9D04-B1C2E0A6B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FA3B7B-4903-A96E-2B74-BE926270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8B38A-547B-4FD3-B28B-9AACE6C0AB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68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5156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</a:rPr>
              <a:t>TennisBot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94944" y="177393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</a:rPr>
              <a:t>面向 3×5 m 实验室 Demo 的自主网球收集机器人开题报告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94944" y="2212848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工程实践导向：全局感知 · 小车定位 · 任务规划 · V 型聚拢 · 近距离 RGBD · 机械臂装袋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32918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EAF3FF"/>
          </a:solidFill>
          <a:ln w="12700">
            <a:solidFill>
              <a:srgbClr val="BB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3649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高位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RGB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48256" y="3575304"/>
            <a:ext cx="722376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32918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EAFB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33649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PC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规划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3575304"/>
            <a:ext cx="722376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82896" y="32918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FF7E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33649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小车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导航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3575304"/>
            <a:ext cx="72237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49440" y="32918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4304" y="33649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V型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聚拢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47888" y="3575304"/>
            <a:ext cx="72237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15984" y="329184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0848" y="33649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RGBD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</a:rPr>
              <a:t>精抓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" y="4800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报告重点：先讲清楚可落地系统链路，再说明 Demo 验证与真实球场扩展路径。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4944" y="5806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B7280"/>
                </a:solidFill>
              </a:rPr>
              <a:t>汇报时长：约 6 分钟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11201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9CA3AF"/>
                </a:solidFill>
              </a:rPr>
              <a:t>TennisBot | 6-min opening proposal | engineering practice demo</a:t>
            </a:r>
            <a:endParaRPr lang="en-US" sz="6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34FA6834-58CF-B7FB-357F-DEBCF15E8E21}"/>
              </a:ext>
            </a:extLst>
          </p:cNvPr>
          <p:cNvSpPr txBox="1">
            <a:spLocks/>
          </p:cNvSpPr>
          <p:nvPr/>
        </p:nvSpPr>
        <p:spPr>
          <a:xfrm>
            <a:off x="5353050" y="7172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B10C33C-257C-6A0E-80D1-5300B5EC26B9}"/>
              </a:ext>
            </a:extLst>
          </p:cNvPr>
          <p:cNvSpPr txBox="1"/>
          <p:nvPr/>
        </p:nvSpPr>
        <p:spPr>
          <a:xfrm>
            <a:off x="534444" y="551784"/>
            <a:ext cx="77918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项目背景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F15E4B-2FC3-9E68-2BA9-2F396251CD60}"/>
              </a:ext>
            </a:extLst>
          </p:cNvPr>
          <p:cNvSpPr txBox="1"/>
          <p:nvPr/>
        </p:nvSpPr>
        <p:spPr>
          <a:xfrm>
            <a:off x="534444" y="1819373"/>
            <a:ext cx="653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美网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FDF99D-7423-C30A-BAC3-1A9454E45590}"/>
              </a:ext>
            </a:extLst>
          </p:cNvPr>
          <p:cNvSpPr txBox="1"/>
          <p:nvPr/>
        </p:nvSpPr>
        <p:spPr>
          <a:xfrm>
            <a:off x="6156593" y="1830487"/>
            <a:ext cx="653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训练球不好捡</a:t>
            </a:r>
          </a:p>
        </p:txBody>
      </p:sp>
    </p:spTree>
    <p:extLst>
      <p:ext uri="{BB962C8B-B14F-4D97-AF65-F5344CB8AC3E}">
        <p14:creationId xmlns:p14="http://schemas.microsoft.com/office/powerpoint/2010/main" val="3435666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8D79-CA51-7388-EFAA-7FDF02AB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>
            <a:extLst>
              <a:ext uri="{FF2B5EF4-FFF2-40B4-BE49-F238E27FC236}">
                <a16:creationId xmlns:a16="http://schemas.microsoft.com/office/drawing/2014/main" id="{9B8A3998-1056-3EAC-C44B-D4154044AFBA}"/>
              </a:ext>
            </a:extLst>
          </p:cNvPr>
          <p:cNvSpPr txBox="1">
            <a:spLocks/>
          </p:cNvSpPr>
          <p:nvPr/>
        </p:nvSpPr>
        <p:spPr>
          <a:xfrm>
            <a:off x="5353050" y="7172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2FD7A5-D6BA-A899-E163-2460BD6965A6}"/>
              </a:ext>
            </a:extLst>
          </p:cNvPr>
          <p:cNvSpPr txBox="1"/>
          <p:nvPr/>
        </p:nvSpPr>
        <p:spPr>
          <a:xfrm>
            <a:off x="534444" y="551784"/>
            <a:ext cx="77918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现有方案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0B329C-37E0-A92D-6434-3A0A3B1548D2}"/>
              </a:ext>
            </a:extLst>
          </p:cNvPr>
          <p:cNvSpPr txBox="1"/>
          <p:nvPr/>
        </p:nvSpPr>
        <p:spPr>
          <a:xfrm>
            <a:off x="534444" y="1819373"/>
            <a:ext cx="65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捡球器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069401-10F3-1062-90E3-DEA1C4A691E0}"/>
              </a:ext>
            </a:extLst>
          </p:cNvPr>
          <p:cNvSpPr txBox="1"/>
          <p:nvPr/>
        </p:nvSpPr>
        <p:spPr>
          <a:xfrm>
            <a:off x="4331028" y="2204113"/>
            <a:ext cx="653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市售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D07107-57A8-52DC-BAB8-A172D4AAED7C}"/>
              </a:ext>
            </a:extLst>
          </p:cNvPr>
          <p:cNvSpPr txBox="1"/>
          <p:nvPr/>
        </p:nvSpPr>
        <p:spPr>
          <a:xfrm>
            <a:off x="8572828" y="2171847"/>
            <a:ext cx="65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前人工作</a:t>
            </a:r>
          </a:p>
        </p:txBody>
      </p:sp>
    </p:spTree>
    <p:extLst>
      <p:ext uri="{BB962C8B-B14F-4D97-AF65-F5344CB8AC3E}">
        <p14:creationId xmlns:p14="http://schemas.microsoft.com/office/powerpoint/2010/main" val="3598010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594360" y="1234440"/>
            <a:ext cx="73152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362456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任务目标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8952" y="1673352"/>
            <a:ext cx="266090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3×5 m 场地散布多个网球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自动识别所有球位置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小车自主导航与聚拢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机械臂抓取并放入球袋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73152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054096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核心思想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58952" y="3364992"/>
            <a:ext cx="2660904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高处看全局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车上做局部精定位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PC 做任务管理与闭环重规划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机械结构降低控制难度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594360" y="4590288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718304"/>
            <a:ext cx="2651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验收形式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58952" y="5029200"/>
            <a:ext cx="633882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altLang="zh-CN" sz="800" dirty="0">
                <a:solidFill>
                  <a:srgbClr val="1F2937"/>
                </a:solidFill>
              </a:rPr>
              <a:t>3×5 m </a:t>
            </a:r>
            <a:r>
              <a:rPr lang="en-US" altLang="zh-CN" sz="800" dirty="0" err="1">
                <a:solidFill>
                  <a:srgbClr val="1F2937"/>
                </a:solidFill>
              </a:rPr>
              <a:t>场地散布多个网球</a:t>
            </a:r>
            <a:r>
              <a:rPr lang="en-US" sz="820" dirty="0" err="1">
                <a:solidFill>
                  <a:srgbClr val="1F2937"/>
                </a:solidFill>
              </a:rPr>
              <a:t>：扫描</a:t>
            </a:r>
            <a:r>
              <a:rPr lang="en-US" sz="820" dirty="0">
                <a:solidFill>
                  <a:srgbClr val="1F2937"/>
                </a:solidFill>
              </a:rPr>
              <a:t> → 规划 → 导航 → 聚拢/抓取 → 复扫 → 返回 Home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5735322" y="133942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3FF"/>
          </a:solidFill>
          <a:ln w="12700">
            <a:solidFill>
              <a:srgbClr val="BBD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0186" y="1412578"/>
            <a:ext cx="1307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高位 RGB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全局感知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47002" y="133942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B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01866" y="1412578"/>
            <a:ext cx="1307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PC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World State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758682" y="133942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7E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13546" y="1412578"/>
            <a:ext cx="1307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任务规划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路径生成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7002" y="248242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01866" y="2555578"/>
            <a:ext cx="1307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小车定位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AprilTag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758682" y="248242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13546" y="2555578"/>
            <a:ext cx="1307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视觉闭环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底盘控制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47002" y="367114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3E8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01866" y="3744298"/>
            <a:ext cx="1307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V 型聚拢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Sweep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758682" y="367114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13546" y="3744298"/>
            <a:ext cx="1307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Collection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Zone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747002" y="481414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01866" y="4887298"/>
            <a:ext cx="1307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近距离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RGBD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758682" y="481414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13546" y="4887298"/>
            <a:ext cx="13075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机械臂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抓取装袋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170930" y="1595458"/>
            <a:ext cx="53035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182610" y="1595458"/>
            <a:ext cx="530352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451090" y="1869778"/>
            <a:ext cx="0" cy="56692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182610" y="2738458"/>
            <a:ext cx="530352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462770" y="3012778"/>
            <a:ext cx="0" cy="612648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182610" y="3927178"/>
            <a:ext cx="530352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451090" y="4201498"/>
            <a:ext cx="0" cy="566928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182610" y="5070178"/>
            <a:ext cx="530352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502920" y="6528816"/>
            <a:ext cx="11201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dirty="0">
                <a:solidFill>
                  <a:srgbClr val="9CA3AF"/>
                </a:solidFill>
              </a:rPr>
              <a:t>TennisBot | 6-min opening proposal | engineering practice demo</a:t>
            </a:r>
            <a:endParaRPr lang="en-US" sz="64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57B331C-4611-4993-7184-84FBBE34BAE2}"/>
              </a:ext>
            </a:extLst>
          </p:cNvPr>
          <p:cNvSpPr txBox="1"/>
          <p:nvPr/>
        </p:nvSpPr>
        <p:spPr>
          <a:xfrm>
            <a:off x="534444" y="551784"/>
            <a:ext cx="448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技术方案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747E1B9-EC45-1FAE-B114-A0A5D21208A1}"/>
              </a:ext>
            </a:extLst>
          </p:cNvPr>
          <p:cNvSpPr txBox="1"/>
          <p:nvPr/>
        </p:nvSpPr>
        <p:spPr>
          <a:xfrm>
            <a:off x="3743960" y="3180326"/>
            <a:ext cx="1082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生图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D5B66321-E3A2-2216-C132-3D84FA1DE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734" y="2593182"/>
            <a:ext cx="276585" cy="272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1169086"/>
            <a:ext cx="9601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复用网球场鹰眼系统高清摄像头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在</a:t>
            </a:r>
            <a:r>
              <a:rPr lang="en-US" altLang="zh-CN" sz="1600" b="1" dirty="0">
                <a:solidFill>
                  <a:srgbClr val="6B7280"/>
                </a:solidFill>
              </a:rPr>
              <a:t>demo</a:t>
            </a:r>
            <a:r>
              <a:rPr lang="zh-CN" altLang="en-US" sz="1600" b="1" dirty="0">
                <a:solidFill>
                  <a:srgbClr val="6B7280"/>
                </a:solidFill>
              </a:rPr>
              <a:t>中采用</a:t>
            </a:r>
            <a:r>
              <a:rPr lang="en-US" altLang="zh-CN" sz="1600" b="1" dirty="0">
                <a:solidFill>
                  <a:srgbClr val="6B7280"/>
                </a:solidFill>
              </a:rPr>
              <a:t>2.8m 1080P RGB</a:t>
            </a:r>
            <a:r>
              <a:rPr lang="zh-CN" altLang="en-US" sz="1600" b="1" dirty="0">
                <a:solidFill>
                  <a:srgbClr val="6B7280"/>
                </a:solidFill>
              </a:rPr>
              <a:t>摄像头</a:t>
            </a:r>
            <a:endParaRPr lang="en-US" sz="1600" b="1" dirty="0"/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400D8AE-70DC-8C46-327A-992E196383F6}"/>
              </a:ext>
            </a:extLst>
          </p:cNvPr>
          <p:cNvGrpSpPr/>
          <p:nvPr/>
        </p:nvGrpSpPr>
        <p:grpSpPr>
          <a:xfrm>
            <a:off x="911352" y="2369311"/>
            <a:ext cx="3145536" cy="1261872"/>
            <a:chOff x="929640" y="1864360"/>
            <a:chExt cx="3145536" cy="1261872"/>
          </a:xfrm>
        </p:grpSpPr>
        <p:sp>
          <p:nvSpPr>
            <p:cNvPr id="6" name="Shape 4"/>
            <p:cNvSpPr/>
            <p:nvPr/>
          </p:nvSpPr>
          <p:spPr>
            <a:xfrm>
              <a:off x="929640" y="1864360"/>
              <a:ext cx="73152" cy="126187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1094232" y="1992376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网球定位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94232" y="2303272"/>
              <a:ext cx="2980944" cy="7315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</a:rPr>
                <a:t>检测图像中心</a:t>
              </a:r>
              <a:r>
                <a:rPr lang="en-US" sz="1600" dirty="0">
                  <a:solidFill>
                    <a:srgbClr val="1F2937"/>
                  </a:solidFill>
                </a:rPr>
                <a:t> (u, v)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</a:rPr>
                <a:t>通过场地四角标定做 Homography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</a:rPr>
                <a:t>输出每个球的 world 坐标 (x, y)</a:t>
              </a:r>
              <a:endParaRPr lang="en-US" sz="1400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37F214A-C3CF-0460-0A9B-37E43DB39FB8}"/>
              </a:ext>
            </a:extLst>
          </p:cNvPr>
          <p:cNvGrpSpPr/>
          <p:nvPr/>
        </p:nvGrpSpPr>
        <p:grpSpPr>
          <a:xfrm>
            <a:off x="947928" y="4392495"/>
            <a:ext cx="3145536" cy="1261872"/>
            <a:chOff x="929640" y="3391408"/>
            <a:chExt cx="3145536" cy="1261872"/>
          </a:xfrm>
        </p:grpSpPr>
        <p:sp>
          <p:nvSpPr>
            <p:cNvPr id="10" name="Shape 8"/>
            <p:cNvSpPr/>
            <p:nvPr/>
          </p:nvSpPr>
          <p:spPr>
            <a:xfrm>
              <a:off x="929640" y="3391408"/>
              <a:ext cx="73152" cy="1261872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>
                  <a:alpha val="0"/>
                </a:srgbClr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1094232" y="3519424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2937"/>
                  </a:solidFill>
                </a:rPr>
                <a:t>小车定位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94232" y="3830320"/>
              <a:ext cx="2980944" cy="73152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r>
                <a:rPr lang="en-US" sz="1400" dirty="0" err="1">
                  <a:solidFill>
                    <a:srgbClr val="1F2937"/>
                  </a:solidFill>
                </a:rPr>
                <a:t>车顶贴</a:t>
              </a:r>
              <a:r>
                <a:rPr lang="en-US" sz="1400" dirty="0">
                  <a:solidFill>
                    <a:srgbClr val="1F2937"/>
                  </a:solidFill>
                </a:rPr>
                <a:t> </a:t>
              </a:r>
              <a:r>
                <a:rPr lang="en-US" sz="1400" dirty="0" err="1">
                  <a:solidFill>
                    <a:srgbClr val="1F2937"/>
                  </a:solidFill>
                </a:rPr>
                <a:t>AprilTag</a:t>
              </a:r>
              <a:endParaRPr lang="en-US" sz="1400" dirty="0">
                <a:solidFill>
                  <a:srgbClr val="1F2937"/>
                </a:solidFill>
              </a:endParaRPr>
            </a:p>
            <a:p>
              <a:r>
                <a:rPr lang="en-US" sz="1400" dirty="0">
                  <a:solidFill>
                    <a:srgbClr val="1F2937"/>
                  </a:solidFill>
                </a:rPr>
                <a:t>同一高位相机识别 tag </a:t>
              </a:r>
              <a:r>
                <a:rPr lang="en-US" sz="1400" dirty="0" err="1">
                  <a:solidFill>
                    <a:srgbClr val="1F2937"/>
                  </a:solidFill>
                </a:rPr>
                <a:t>中心与方向</a:t>
              </a:r>
              <a:endParaRPr lang="en-US" sz="1400" dirty="0">
                <a:solidFill>
                  <a:srgbClr val="1F2937"/>
                </a:solidFill>
              </a:endParaRPr>
            </a:p>
            <a:p>
              <a:r>
                <a:rPr lang="en-US" sz="1400" dirty="0">
                  <a:solidFill>
                    <a:srgbClr val="1F2937"/>
                  </a:solidFill>
                </a:rPr>
                <a:t>输出 robot = (x, y, θ)</a:t>
              </a:r>
            </a:p>
          </p:txBody>
        </p:sp>
      </p:grpSp>
      <p:sp>
        <p:nvSpPr>
          <p:cNvPr id="17" name="Shape 15"/>
          <p:cNvSpPr/>
          <p:nvPr/>
        </p:nvSpPr>
        <p:spPr>
          <a:xfrm>
            <a:off x="5248910" y="2172208"/>
            <a:ext cx="6172200" cy="397764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4640" y="2253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world frame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60440" y="274828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23480" y="329692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00920" y="265684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0520" y="498856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69400" y="535432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23880" y="439420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48168" y="3833876"/>
            <a:ext cx="1016000" cy="5740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8988" y="4037583"/>
            <a:ext cx="448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5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D429258-218B-5487-B279-84CF7DB72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270" y="3946144"/>
            <a:ext cx="366226" cy="360504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2B7299C7-AA87-F96B-B7AD-034B52E20F86}"/>
              </a:ext>
            </a:extLst>
          </p:cNvPr>
          <p:cNvSpPr/>
          <p:nvPr/>
        </p:nvSpPr>
        <p:spPr>
          <a:xfrm>
            <a:off x="5248910" y="2186430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8458C29-1F9F-E238-A90E-DD5CF3FAD831}"/>
              </a:ext>
            </a:extLst>
          </p:cNvPr>
          <p:cNvSpPr/>
          <p:nvPr/>
        </p:nvSpPr>
        <p:spPr>
          <a:xfrm>
            <a:off x="5247640" y="6063742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C89DEB2-D226-D989-3F3B-D782A1D6928B}"/>
              </a:ext>
            </a:extLst>
          </p:cNvPr>
          <p:cNvSpPr/>
          <p:nvPr/>
        </p:nvSpPr>
        <p:spPr>
          <a:xfrm>
            <a:off x="11346180" y="2176271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CBE9CB5-F5DF-980E-54B9-8909CD0A76CA}"/>
              </a:ext>
            </a:extLst>
          </p:cNvPr>
          <p:cNvSpPr/>
          <p:nvPr/>
        </p:nvSpPr>
        <p:spPr>
          <a:xfrm>
            <a:off x="11344910" y="6053583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3831D48-B899-3E4E-9501-D1F39FCE9812}"/>
              </a:ext>
            </a:extLst>
          </p:cNvPr>
          <p:cNvSpPr txBox="1"/>
          <p:nvPr/>
        </p:nvSpPr>
        <p:spPr>
          <a:xfrm>
            <a:off x="6207760" y="2698321"/>
            <a:ext cx="492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1F2937"/>
                </a:solidFill>
              </a:rPr>
              <a:t>(</a:t>
            </a:r>
            <a:r>
              <a:rPr lang="en-US" altLang="zh-CN" sz="1000" b="1" dirty="0" err="1">
                <a:solidFill>
                  <a:srgbClr val="1F2937"/>
                </a:solidFill>
              </a:rPr>
              <a:t>u,v</a:t>
            </a:r>
            <a:r>
              <a:rPr lang="en-US" altLang="zh-CN" sz="1000" b="1" dirty="0">
                <a:solidFill>
                  <a:srgbClr val="1F2937"/>
                </a:solidFill>
              </a:rPr>
              <a:t>)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4F770AE-992C-3B71-0C25-317D667A7BA0}"/>
              </a:ext>
            </a:extLst>
          </p:cNvPr>
          <p:cNvSpPr txBox="1"/>
          <p:nvPr/>
        </p:nvSpPr>
        <p:spPr>
          <a:xfrm>
            <a:off x="8173170" y="4448712"/>
            <a:ext cx="7909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1F2937"/>
                </a:solidFill>
              </a:rPr>
              <a:t>(</a:t>
            </a:r>
            <a:r>
              <a:rPr lang="en-US" altLang="zh-CN" sz="1000" b="1" dirty="0" err="1">
                <a:solidFill>
                  <a:srgbClr val="1F2937"/>
                </a:solidFill>
              </a:rPr>
              <a:t>x,y,θ</a:t>
            </a:r>
            <a:r>
              <a:rPr lang="en-US" altLang="zh-CN" sz="1000" b="1" dirty="0">
                <a:solidFill>
                  <a:srgbClr val="1F2937"/>
                </a:solidFill>
              </a:rPr>
              <a:t>)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1448DB-4F16-C0AD-68AE-ACE2CFBDF9A9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全局视觉：同时定位网球与小车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6C05FB58-B1E4-FA4B-CC1C-2F147026F070}"/>
              </a:ext>
            </a:extLst>
          </p:cNvPr>
          <p:cNvCxnSpPr/>
          <p:nvPr/>
        </p:nvCxnSpPr>
        <p:spPr>
          <a:xfrm flipH="1" flipV="1">
            <a:off x="7605776" y="3713480"/>
            <a:ext cx="342392" cy="19202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17D421A-2B81-F0F3-2B28-AB9B8BF96697}"/>
              </a:ext>
            </a:extLst>
          </p:cNvPr>
          <p:cNvCxnSpPr>
            <a:cxnSpLocks/>
          </p:cNvCxnSpPr>
          <p:nvPr/>
        </p:nvCxnSpPr>
        <p:spPr>
          <a:xfrm flipH="1">
            <a:off x="7605776" y="4352614"/>
            <a:ext cx="342392" cy="192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C3DE-FC3F-6ABF-976D-4B1B2CC0B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6B099A-BB4A-AF4C-AC2C-79303E03C9FD}"/>
              </a:ext>
            </a:extLst>
          </p:cNvPr>
          <p:cNvSpPr/>
          <p:nvPr/>
        </p:nvSpPr>
        <p:spPr>
          <a:xfrm>
            <a:off x="658368" y="1169086"/>
            <a:ext cx="9601200" cy="856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网球场较大场地中 路径规划决定捡球效率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在仿真环境中，加入转向、机械臂等负担，进行路径规划算法设计与验证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在</a:t>
            </a:r>
            <a:r>
              <a:rPr lang="en-US" altLang="zh-CN" sz="1600" b="1" dirty="0">
                <a:solidFill>
                  <a:srgbClr val="6B7280"/>
                </a:solidFill>
              </a:rPr>
              <a:t>demo</a:t>
            </a:r>
            <a:r>
              <a:rPr lang="zh-CN" altLang="en-US" sz="1600" b="1" dirty="0">
                <a:solidFill>
                  <a:srgbClr val="6B7280"/>
                </a:solidFill>
              </a:rPr>
              <a:t> </a:t>
            </a:r>
            <a:r>
              <a:rPr lang="en-US" altLang="zh-CN" sz="1600" b="1" dirty="0">
                <a:solidFill>
                  <a:srgbClr val="6B7280"/>
                </a:solidFill>
              </a:rPr>
              <a:t>3*5m</a:t>
            </a:r>
            <a:r>
              <a:rPr lang="zh-CN" altLang="en-US" sz="1600" b="1" dirty="0">
                <a:solidFill>
                  <a:srgbClr val="6B7280"/>
                </a:solidFill>
              </a:rPr>
              <a:t>场地中，采用相同算法进行真实场景验证</a:t>
            </a:r>
            <a:endParaRPr lang="en-US" sz="160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112E349-71A1-D6E6-9458-B87653382D51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路径规划：最经济（？）问题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91C91B-E097-205B-F537-FD27B4A24D35}"/>
              </a:ext>
            </a:extLst>
          </p:cNvPr>
          <p:cNvSpPr txBox="1"/>
          <p:nvPr/>
        </p:nvSpPr>
        <p:spPr>
          <a:xfrm>
            <a:off x="2971800" y="4246194"/>
            <a:ext cx="125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18C23B-E146-6C4E-A390-752003212A52}"/>
              </a:ext>
            </a:extLst>
          </p:cNvPr>
          <p:cNvSpPr txBox="1"/>
          <p:nvPr/>
        </p:nvSpPr>
        <p:spPr>
          <a:xfrm>
            <a:off x="8244840" y="3302000"/>
            <a:ext cx="2489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Ours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、写出明确的约束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 找到效果较好的路径规划算法</a:t>
            </a: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网球场仿真环境、</a:t>
            </a:r>
            <a:r>
              <a:rPr lang="en-US" altLang="zh-CN" dirty="0"/>
              <a:t>demo</a:t>
            </a:r>
            <a:r>
              <a:rPr lang="zh-CN" altLang="en-US" dirty="0"/>
              <a:t>真实场景验证</a:t>
            </a:r>
          </a:p>
        </p:txBody>
      </p:sp>
    </p:spTree>
    <p:extLst>
      <p:ext uri="{BB962C8B-B14F-4D97-AF65-F5344CB8AC3E}">
        <p14:creationId xmlns:p14="http://schemas.microsoft.com/office/powerpoint/2010/main" val="2070978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F2BD1-D098-DF6A-1419-A83E74EA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4B2C2A9-AC15-95B5-A789-B7A8850CB492}"/>
              </a:ext>
            </a:extLst>
          </p:cNvPr>
          <p:cNvSpPr/>
          <p:nvPr/>
        </p:nvSpPr>
        <p:spPr>
          <a:xfrm>
            <a:off x="754888" y="1225144"/>
            <a:ext cx="9601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高位视觉、</a:t>
            </a:r>
            <a:r>
              <a:rPr lang="en-US" altLang="zh-CN" sz="1600" b="1" dirty="0">
                <a:solidFill>
                  <a:srgbClr val="6B7280"/>
                </a:solidFill>
              </a:rPr>
              <a:t>IMU</a:t>
            </a:r>
            <a:r>
              <a:rPr lang="zh-CN" altLang="en-US" sz="1600" b="1" dirty="0">
                <a:solidFill>
                  <a:srgbClr val="6B7280"/>
                </a:solidFill>
              </a:rPr>
              <a:t>模块共同确定小车位姿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（有一点</a:t>
            </a:r>
            <a:r>
              <a:rPr lang="en-US" altLang="zh-CN" sz="1600" b="1" dirty="0">
                <a:solidFill>
                  <a:srgbClr val="6B7280"/>
                </a:solidFill>
              </a:rPr>
              <a:t>KF </a:t>
            </a:r>
            <a:r>
              <a:rPr lang="zh-CN" altLang="en-US" sz="1600" b="1" dirty="0">
                <a:solidFill>
                  <a:srgbClr val="6B7280"/>
                </a:solidFill>
              </a:rPr>
              <a:t>的味道？）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endParaRPr lang="en-US" altLang="zh-CN" sz="1600" b="1" dirty="0">
              <a:solidFill>
                <a:srgbClr val="6B728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88BE2A5-CEB3-6817-0E11-01A50D20528E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 err="1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小车闭环导航</a:t>
            </a:r>
            <a:endParaRPr lang="zh-CN" altLang="en-US" sz="3200" b="1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EFDE071-09A2-2668-7AE3-85A388620C14}"/>
              </a:ext>
            </a:extLst>
          </p:cNvPr>
          <p:cNvSpPr/>
          <p:nvPr/>
        </p:nvSpPr>
        <p:spPr>
          <a:xfrm>
            <a:off x="629920" y="2021866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7E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F28362B-F6FB-C057-627F-42CD05DBA2F9}"/>
              </a:ext>
            </a:extLst>
          </p:cNvPr>
          <p:cNvSpPr/>
          <p:nvPr/>
        </p:nvSpPr>
        <p:spPr>
          <a:xfrm>
            <a:off x="684784" y="2095018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目标位姿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(xₜ,yₜ,θₜ)</a:t>
            </a:r>
            <a:endParaRPr lang="en-US" sz="85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CC5FA54-2322-9269-A930-4D2CA331EC8A}"/>
              </a:ext>
            </a:extLst>
          </p:cNvPr>
          <p:cNvSpPr/>
          <p:nvPr/>
        </p:nvSpPr>
        <p:spPr>
          <a:xfrm>
            <a:off x="2019808" y="2277898"/>
            <a:ext cx="64008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11BC7AE9-AD2C-35E0-D5A1-36D8595089AB}"/>
              </a:ext>
            </a:extLst>
          </p:cNvPr>
          <p:cNvSpPr/>
          <p:nvPr/>
        </p:nvSpPr>
        <p:spPr>
          <a:xfrm>
            <a:off x="2714752" y="2021866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66D405FC-B8E7-4078-2CE4-E40FF31C865E}"/>
              </a:ext>
            </a:extLst>
          </p:cNvPr>
          <p:cNvSpPr/>
          <p:nvPr/>
        </p:nvSpPr>
        <p:spPr>
          <a:xfrm>
            <a:off x="2769616" y="2095018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误差计算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eₓ,eᵧ,eθ</a:t>
            </a:r>
            <a:endParaRPr lang="en-US" sz="85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6BD70F04-3EFA-78A3-CB7C-D821F908B9CD}"/>
              </a:ext>
            </a:extLst>
          </p:cNvPr>
          <p:cNvSpPr/>
          <p:nvPr/>
        </p:nvSpPr>
        <p:spPr>
          <a:xfrm>
            <a:off x="4104640" y="2277898"/>
            <a:ext cx="6400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28918462-9F88-2655-C3B9-42758CDF99A8}"/>
              </a:ext>
            </a:extLst>
          </p:cNvPr>
          <p:cNvSpPr/>
          <p:nvPr/>
        </p:nvSpPr>
        <p:spPr>
          <a:xfrm>
            <a:off x="4799584" y="2021866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EAF3FF"/>
          </a:solidFill>
          <a:ln w="12700">
            <a:solidFill>
              <a:srgbClr val="BBD9FF"/>
            </a:solidFill>
            <a:prstDash val="solid"/>
          </a:ln>
        </p:spPr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3AEB17F3-361D-3366-8F20-FC44EB6B88D9}"/>
              </a:ext>
            </a:extLst>
          </p:cNvPr>
          <p:cNvSpPr/>
          <p:nvPr/>
        </p:nvSpPr>
        <p:spPr>
          <a:xfrm>
            <a:off x="4854448" y="2095018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P/PID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控制器</a:t>
            </a:r>
            <a:endParaRPr lang="en-US" sz="850" dirty="0"/>
          </a:p>
        </p:txBody>
      </p:sp>
      <p:sp>
        <p:nvSpPr>
          <p:cNvPr id="42" name="Shape 11">
            <a:extLst>
              <a:ext uri="{FF2B5EF4-FFF2-40B4-BE49-F238E27FC236}">
                <a16:creationId xmlns:a16="http://schemas.microsoft.com/office/drawing/2014/main" id="{EF2C5841-A440-83ED-79A4-7AD1FD95F026}"/>
              </a:ext>
            </a:extLst>
          </p:cNvPr>
          <p:cNvSpPr/>
          <p:nvPr/>
        </p:nvSpPr>
        <p:spPr>
          <a:xfrm flipH="1">
            <a:off x="4956556" y="2663981"/>
            <a:ext cx="504952" cy="539489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D2C270D2-8152-4487-F29C-FB550EE02ECC}"/>
              </a:ext>
            </a:extLst>
          </p:cNvPr>
          <p:cNvSpPr/>
          <p:nvPr/>
        </p:nvSpPr>
        <p:spPr>
          <a:xfrm>
            <a:off x="3938016" y="3342666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EAFB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AC4C3D6C-F7DA-01D0-74E6-84B447DDFF9C}"/>
              </a:ext>
            </a:extLst>
          </p:cNvPr>
          <p:cNvSpPr/>
          <p:nvPr/>
        </p:nvSpPr>
        <p:spPr>
          <a:xfrm>
            <a:off x="3992880" y="3415818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麦克纳姆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vx,vy,ω</a:t>
            </a:r>
            <a:endParaRPr lang="en-US" sz="850" dirty="0"/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3A83350F-F93F-83DE-CAA8-7D6B7A0170D9}"/>
              </a:ext>
            </a:extLst>
          </p:cNvPr>
          <p:cNvSpPr/>
          <p:nvPr/>
        </p:nvSpPr>
        <p:spPr>
          <a:xfrm flipH="1">
            <a:off x="3078480" y="3586024"/>
            <a:ext cx="598424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69D713C8-5942-85E1-A646-C2882D002378}"/>
              </a:ext>
            </a:extLst>
          </p:cNvPr>
          <p:cNvGrpSpPr/>
          <p:nvPr/>
        </p:nvGrpSpPr>
        <p:grpSpPr>
          <a:xfrm>
            <a:off x="1486408" y="3342666"/>
            <a:ext cx="1325880" cy="502920"/>
            <a:chOff x="8969248" y="2021866"/>
            <a:chExt cx="1325880" cy="502920"/>
          </a:xfrm>
        </p:grpSpPr>
        <p:sp>
          <p:nvSpPr>
            <p:cNvPr id="56" name="Shape 15">
              <a:extLst>
                <a:ext uri="{FF2B5EF4-FFF2-40B4-BE49-F238E27FC236}">
                  <a16:creationId xmlns:a16="http://schemas.microsoft.com/office/drawing/2014/main" id="{251F4B76-7FE2-F4F1-C949-ED7F3F3EADBC}"/>
                </a:ext>
              </a:extLst>
            </p:cNvPr>
            <p:cNvSpPr/>
            <p:nvPr/>
          </p:nvSpPr>
          <p:spPr>
            <a:xfrm>
              <a:off x="8969248" y="2021866"/>
              <a:ext cx="1325880" cy="502920"/>
            </a:xfrm>
            <a:prstGeom prst="roundRect">
              <a:avLst>
                <a:gd name="adj" fmla="val 10909"/>
              </a:avLst>
            </a:prstGeom>
            <a:solidFill>
              <a:srgbClr val="F8FAFC"/>
            </a:solidFill>
            <a:ln w="12700">
              <a:solidFill>
                <a:srgbClr val="D1D5DB"/>
              </a:solidFill>
              <a:prstDash val="solid"/>
            </a:ln>
          </p:spPr>
        </p:sp>
        <p:sp>
          <p:nvSpPr>
            <p:cNvPr id="58" name="Text 16">
              <a:extLst>
                <a:ext uri="{FF2B5EF4-FFF2-40B4-BE49-F238E27FC236}">
                  <a16:creationId xmlns:a16="http://schemas.microsoft.com/office/drawing/2014/main" id="{D3DC06BA-AD6A-7E97-AC89-8FBEE21CC320}"/>
                </a:ext>
              </a:extLst>
            </p:cNvPr>
            <p:cNvSpPr/>
            <p:nvPr/>
          </p:nvSpPr>
          <p:spPr>
            <a:xfrm>
              <a:off x="9024112" y="2095018"/>
              <a:ext cx="1216152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1F2937"/>
                  </a:solidFill>
                </a:rPr>
                <a:t>高位相机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b="1" dirty="0">
                  <a:solidFill>
                    <a:srgbClr val="1F2937"/>
                  </a:solidFill>
                </a:rPr>
                <a:t>重新观察</a:t>
              </a:r>
              <a:endParaRPr lang="en-US" sz="850" dirty="0"/>
            </a:p>
          </p:txBody>
        </p:sp>
      </p:grpSp>
      <p:pic>
        <p:nvPicPr>
          <p:cNvPr id="61" name="图片 60">
            <a:extLst>
              <a:ext uri="{FF2B5EF4-FFF2-40B4-BE49-F238E27FC236}">
                <a16:creationId xmlns:a16="http://schemas.microsoft.com/office/drawing/2014/main" id="{047F695C-465B-F567-62A0-172894E01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301" y="3429000"/>
            <a:ext cx="4091059" cy="2563981"/>
          </a:xfrm>
          <a:prstGeom prst="rect">
            <a:avLst/>
          </a:prstGeom>
        </p:spPr>
      </p:pic>
      <p:sp>
        <p:nvSpPr>
          <p:cNvPr id="65" name="Shape 8">
            <a:extLst>
              <a:ext uri="{FF2B5EF4-FFF2-40B4-BE49-F238E27FC236}">
                <a16:creationId xmlns:a16="http://schemas.microsoft.com/office/drawing/2014/main" id="{8CE95DCA-A07B-A081-F7B6-A896C8FF02A4}"/>
              </a:ext>
            </a:extLst>
          </p:cNvPr>
          <p:cNvSpPr/>
          <p:nvPr/>
        </p:nvSpPr>
        <p:spPr>
          <a:xfrm flipV="1">
            <a:off x="2292604" y="2714585"/>
            <a:ext cx="420116" cy="43178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6E639C94-FB1D-B31F-94EE-F94C211B4C4F}"/>
              </a:ext>
            </a:extLst>
          </p:cNvPr>
          <p:cNvSpPr/>
          <p:nvPr/>
        </p:nvSpPr>
        <p:spPr>
          <a:xfrm>
            <a:off x="-1026160" y="3931946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7280"/>
                </a:solidFill>
              </a:rPr>
              <a:t>反馈闭环：高位相机持续更新 robot pose，控制器每帧重算速度。</a:t>
            </a:r>
            <a:endParaRPr lang="en-US" sz="860" dirty="0"/>
          </a:p>
        </p:txBody>
      </p:sp>
    </p:spTree>
    <p:extLst>
      <p:ext uri="{BB962C8B-B14F-4D97-AF65-F5344CB8AC3E}">
        <p14:creationId xmlns:p14="http://schemas.microsoft.com/office/powerpoint/2010/main" val="589302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1D074-3743-00C1-445C-87FCA8DE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39E64DF-D154-7FEE-450C-A9682BE6335E}"/>
              </a:ext>
            </a:extLst>
          </p:cNvPr>
          <p:cNvSpPr/>
          <p:nvPr/>
        </p:nvSpPr>
        <p:spPr>
          <a:xfrm>
            <a:off x="754888" y="1225144"/>
            <a:ext cx="9601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6B7280"/>
                </a:solidFill>
              </a:rPr>
              <a:t>V</a:t>
            </a:r>
            <a:r>
              <a:rPr lang="zh-CN" altLang="en-US" sz="1600" b="1" dirty="0">
                <a:solidFill>
                  <a:srgbClr val="6B7280"/>
                </a:solidFill>
              </a:rPr>
              <a:t>型聚拢结构与特异夹爪结构设计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endParaRPr lang="en-US" altLang="zh-CN" sz="1600" b="1" dirty="0">
              <a:solidFill>
                <a:srgbClr val="6B7280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BD3DAD5-7C19-F3BA-9CCC-8E7D70DA22B9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结构设计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F7C8082-DA1D-BC52-8771-76D41FDA2362}"/>
              </a:ext>
            </a:extLst>
          </p:cNvPr>
          <p:cNvSpPr/>
          <p:nvPr/>
        </p:nvSpPr>
        <p:spPr>
          <a:xfrm>
            <a:off x="828040" y="1700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散落球</a:t>
            </a:r>
            <a:endParaRPr lang="en-US" sz="1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B308B2E-BEE9-49A8-B6E7-EB419732BE00}"/>
              </a:ext>
            </a:extLst>
          </p:cNvPr>
          <p:cNvSpPr/>
          <p:nvPr/>
        </p:nvSpPr>
        <p:spPr>
          <a:xfrm>
            <a:off x="1056640" y="2532888"/>
            <a:ext cx="201168" cy="201168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144EC11A-3DCA-CC6B-F482-66204ADA8C9A}"/>
              </a:ext>
            </a:extLst>
          </p:cNvPr>
          <p:cNvSpPr/>
          <p:nvPr/>
        </p:nvSpPr>
        <p:spPr>
          <a:xfrm>
            <a:off x="2016760" y="2350008"/>
            <a:ext cx="201168" cy="201168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467CB3AA-0F63-24FD-1164-A5AC2E760B2F}"/>
              </a:ext>
            </a:extLst>
          </p:cNvPr>
          <p:cNvSpPr/>
          <p:nvPr/>
        </p:nvSpPr>
        <p:spPr>
          <a:xfrm>
            <a:off x="1559560" y="3264408"/>
            <a:ext cx="201168" cy="201168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61DA1152-EF7D-8E97-CC3F-E95C3E6A3589}"/>
              </a:ext>
            </a:extLst>
          </p:cNvPr>
          <p:cNvSpPr/>
          <p:nvPr/>
        </p:nvSpPr>
        <p:spPr>
          <a:xfrm>
            <a:off x="2656840" y="2898648"/>
            <a:ext cx="100584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B88CD5B-E1BE-1A6E-F736-8D65A64B3F50}"/>
              </a:ext>
            </a:extLst>
          </p:cNvPr>
          <p:cNvSpPr/>
          <p:nvPr/>
        </p:nvSpPr>
        <p:spPr>
          <a:xfrm>
            <a:off x="2885440" y="2487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Sweep</a:t>
            </a:r>
            <a:endParaRPr lang="en-US" sz="8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6D9F7FF5-84F8-DFA2-8210-A7172C70F6C9}"/>
              </a:ext>
            </a:extLst>
          </p:cNvPr>
          <p:cNvSpPr/>
          <p:nvPr/>
        </p:nvSpPr>
        <p:spPr>
          <a:xfrm>
            <a:off x="4028440" y="3721608"/>
            <a:ext cx="132588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D7AA535C-7265-755A-368C-F741DDEFC54D}"/>
              </a:ext>
            </a:extLst>
          </p:cNvPr>
          <p:cNvSpPr/>
          <p:nvPr/>
        </p:nvSpPr>
        <p:spPr>
          <a:xfrm>
            <a:off x="6680200" y="3721608"/>
            <a:ext cx="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DEC8D481-5088-455C-B713-0841A5607FD6}"/>
              </a:ext>
            </a:extLst>
          </p:cNvPr>
          <p:cNvSpPr/>
          <p:nvPr/>
        </p:nvSpPr>
        <p:spPr>
          <a:xfrm>
            <a:off x="5025136" y="3602736"/>
            <a:ext cx="658368" cy="38404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C8F67B6C-B19F-07C3-BCCD-3D8E406673D8}"/>
              </a:ext>
            </a:extLst>
          </p:cNvPr>
          <p:cNvSpPr/>
          <p:nvPr/>
        </p:nvSpPr>
        <p:spPr>
          <a:xfrm>
            <a:off x="5098288" y="3712464"/>
            <a:ext cx="5029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</a:rPr>
              <a:t>小车</a:t>
            </a:r>
            <a:endParaRPr lang="en-US" sz="66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BC8CF096-CA52-D4C1-7C86-54134B6CB1E0}"/>
              </a:ext>
            </a:extLst>
          </p:cNvPr>
          <p:cNvSpPr/>
          <p:nvPr/>
        </p:nvSpPr>
        <p:spPr>
          <a:xfrm>
            <a:off x="4622800" y="2523744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E18590D8-6014-D6A5-D855-25A9B28EC579}"/>
              </a:ext>
            </a:extLst>
          </p:cNvPr>
          <p:cNvSpPr/>
          <p:nvPr/>
        </p:nvSpPr>
        <p:spPr>
          <a:xfrm>
            <a:off x="5308600" y="2350008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A4197CDD-D0E2-FB66-6595-6D6111B19958}"/>
              </a:ext>
            </a:extLst>
          </p:cNvPr>
          <p:cNvSpPr/>
          <p:nvPr/>
        </p:nvSpPr>
        <p:spPr>
          <a:xfrm>
            <a:off x="5829808" y="256032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49AF0B51-AFE6-45DB-C4D0-8B21A7BEE9F8}"/>
              </a:ext>
            </a:extLst>
          </p:cNvPr>
          <p:cNvSpPr/>
          <p:nvPr/>
        </p:nvSpPr>
        <p:spPr>
          <a:xfrm>
            <a:off x="7137400" y="2898648"/>
            <a:ext cx="100584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CE54CE55-A06D-5D67-A522-31474D336EFD}"/>
              </a:ext>
            </a:extLst>
          </p:cNvPr>
          <p:cNvSpPr/>
          <p:nvPr/>
        </p:nvSpPr>
        <p:spPr>
          <a:xfrm>
            <a:off x="8600440" y="2359152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B55361A3-10A0-F13E-DD82-C9FADA652C2D}"/>
              </a:ext>
            </a:extLst>
          </p:cNvPr>
          <p:cNvSpPr/>
          <p:nvPr/>
        </p:nvSpPr>
        <p:spPr>
          <a:xfrm>
            <a:off x="8719312" y="25146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</a:rPr>
              <a:t>Collection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0000"/>
                </a:solidFill>
              </a:rPr>
              <a:t>Zone</a:t>
            </a:r>
            <a:endParaRPr lang="en-US" sz="850" dirty="0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CCF5E02E-F891-3C43-AFD8-A9500DE03B70}"/>
              </a:ext>
            </a:extLst>
          </p:cNvPr>
          <p:cNvSpPr/>
          <p:nvPr/>
        </p:nvSpPr>
        <p:spPr>
          <a:xfrm>
            <a:off x="8874760" y="2852928"/>
            <a:ext cx="146304" cy="146304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49" name="Shape 20">
            <a:extLst>
              <a:ext uri="{FF2B5EF4-FFF2-40B4-BE49-F238E27FC236}">
                <a16:creationId xmlns:a16="http://schemas.microsoft.com/office/drawing/2014/main" id="{1B24162F-7B09-FCB4-CC7C-D534DE211A7A}"/>
              </a:ext>
            </a:extLst>
          </p:cNvPr>
          <p:cNvSpPr/>
          <p:nvPr/>
        </p:nvSpPr>
        <p:spPr>
          <a:xfrm>
            <a:off x="9176512" y="2871216"/>
            <a:ext cx="146304" cy="146304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4B45D9B0-EB00-55C7-62F1-14695FF11F20}"/>
              </a:ext>
            </a:extLst>
          </p:cNvPr>
          <p:cNvSpPr/>
          <p:nvPr/>
        </p:nvSpPr>
        <p:spPr>
          <a:xfrm>
            <a:off x="9030208" y="3035808"/>
            <a:ext cx="146304" cy="146304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02DDEC8A-B440-87E1-0627-3C7319FEBEB2}"/>
              </a:ext>
            </a:extLst>
          </p:cNvPr>
          <p:cNvSpPr/>
          <p:nvPr/>
        </p:nvSpPr>
        <p:spPr>
          <a:xfrm>
            <a:off x="882904" y="4632604"/>
            <a:ext cx="9601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特异夹爪结构设计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endParaRPr lang="en-US" altLang="zh-CN" sz="1600" b="1" dirty="0">
              <a:solidFill>
                <a:srgbClr val="6B7280"/>
              </a:solidFill>
            </a:endParaRPr>
          </a:p>
        </p:txBody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3D55977C-74EF-7715-0194-AB826E803EDE}"/>
              </a:ext>
            </a:extLst>
          </p:cNvPr>
          <p:cNvSpPr/>
          <p:nvPr/>
        </p:nvSpPr>
        <p:spPr>
          <a:xfrm>
            <a:off x="5582920" y="1197864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29C58931-0971-9F4A-AF02-15802FB08675}"/>
              </a:ext>
            </a:extLst>
          </p:cNvPr>
          <p:cNvSpPr/>
          <p:nvPr/>
        </p:nvSpPr>
        <p:spPr>
          <a:xfrm>
            <a:off x="5582920" y="1197864"/>
            <a:ext cx="7315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6" name="Text 24">
            <a:extLst>
              <a:ext uri="{FF2B5EF4-FFF2-40B4-BE49-F238E27FC236}">
                <a16:creationId xmlns:a16="http://schemas.microsoft.com/office/drawing/2014/main" id="{756323FA-3019-89B1-4899-BEC29F767B52}"/>
              </a:ext>
            </a:extLst>
          </p:cNvPr>
          <p:cNvSpPr/>
          <p:nvPr/>
        </p:nvSpPr>
        <p:spPr>
          <a:xfrm>
            <a:off x="5747512" y="1325880"/>
            <a:ext cx="2788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机构设计</a:t>
            </a:r>
            <a:endParaRPr lang="en-US" sz="1150" dirty="0"/>
          </a:p>
        </p:txBody>
      </p:sp>
      <p:sp>
        <p:nvSpPr>
          <p:cNvPr id="68" name="Text 25">
            <a:extLst>
              <a:ext uri="{FF2B5EF4-FFF2-40B4-BE49-F238E27FC236}">
                <a16:creationId xmlns:a16="http://schemas.microsoft.com/office/drawing/2014/main" id="{117521DA-FBA1-43ED-BB3B-06328BD4FE6B}"/>
              </a:ext>
            </a:extLst>
          </p:cNvPr>
          <p:cNvSpPr/>
          <p:nvPr/>
        </p:nvSpPr>
        <p:spPr>
          <a:xfrm>
            <a:off x="5747512" y="1636776"/>
            <a:ext cx="27980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固定 V 型推杆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入口宽 60–80 cm，收口 20–30 cm</a:t>
            </a:r>
            <a:endParaRPr lang="en-US" sz="770" dirty="0"/>
          </a:p>
          <a:p>
            <a:pPr marL="0" indent="0">
              <a:buNone/>
            </a:pPr>
            <a:r>
              <a:rPr lang="en-US" sz="770" dirty="0">
                <a:solidFill>
                  <a:srgbClr val="1F2937"/>
                </a:solidFill>
              </a:rPr>
              <a:t>PVC / 碳杆 / 3D 打印连接件</a:t>
            </a:r>
            <a:endParaRPr lang="en-US" sz="770" dirty="0"/>
          </a:p>
        </p:txBody>
      </p:sp>
    </p:spTree>
    <p:extLst>
      <p:ext uri="{BB962C8B-B14F-4D97-AF65-F5344CB8AC3E}">
        <p14:creationId xmlns:p14="http://schemas.microsoft.com/office/powerpoint/2010/main" val="2703762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1F5F3-12FC-A045-C98D-5061A41A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707D883-FFC9-96E5-48D6-D271CB55E209}"/>
              </a:ext>
            </a:extLst>
          </p:cNvPr>
          <p:cNvSpPr/>
          <p:nvPr/>
        </p:nvSpPr>
        <p:spPr>
          <a:xfrm>
            <a:off x="754888" y="1225144"/>
            <a:ext cx="9601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6B7280"/>
                </a:solidFill>
              </a:rPr>
              <a:t>RGBD + </a:t>
            </a:r>
            <a:r>
              <a:rPr lang="en-US" altLang="zh-CN" sz="1600" b="1" dirty="0" err="1">
                <a:solidFill>
                  <a:srgbClr val="6B7280"/>
                </a:solidFill>
              </a:rPr>
              <a:t>Dobot</a:t>
            </a:r>
            <a:r>
              <a:rPr lang="en-US" altLang="zh-CN" sz="1600" b="1" dirty="0">
                <a:solidFill>
                  <a:srgbClr val="6B7280"/>
                </a:solidFill>
              </a:rPr>
              <a:t> 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854E570-303B-29C5-D0C2-91443A47DB8C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机械臂抓取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C886AB-2743-755D-3F0E-8DC4B4EFE9B1}"/>
              </a:ext>
            </a:extLst>
          </p:cNvPr>
          <p:cNvSpPr/>
          <p:nvPr/>
        </p:nvSpPr>
        <p:spPr>
          <a:xfrm>
            <a:off x="828040" y="17007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散落球</a:t>
            </a:r>
            <a:endParaRPr lang="en-US" sz="10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0B3C9F59-0DFE-BC28-1495-8778AFFAE9DC}"/>
              </a:ext>
            </a:extLst>
          </p:cNvPr>
          <p:cNvSpPr/>
          <p:nvPr/>
        </p:nvSpPr>
        <p:spPr>
          <a:xfrm>
            <a:off x="1341120" y="1975612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EE2E2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3276FB8-F16B-BEF6-8D59-7FD4617E1E86}"/>
              </a:ext>
            </a:extLst>
          </p:cNvPr>
          <p:cNvSpPr/>
          <p:nvPr/>
        </p:nvSpPr>
        <p:spPr>
          <a:xfrm>
            <a:off x="1341120" y="1975612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03D6204-D358-73EF-4AC1-8BC2FE187CE9}"/>
              </a:ext>
            </a:extLst>
          </p:cNvPr>
          <p:cNvSpPr/>
          <p:nvPr/>
        </p:nvSpPr>
        <p:spPr>
          <a:xfrm>
            <a:off x="1505712" y="2103628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局部 RGBD 需求</a:t>
            </a:r>
            <a:endParaRPr lang="en-US" sz="11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7877C1-B7B7-2945-60C1-310E782C3354}"/>
              </a:ext>
            </a:extLst>
          </p:cNvPr>
          <p:cNvSpPr/>
          <p:nvPr/>
        </p:nvSpPr>
        <p:spPr>
          <a:xfrm>
            <a:off x="1505712" y="2414524"/>
            <a:ext cx="3026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工作范围：约 5–40 cm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重点关注最近有效深度距离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RGB/Depth 对齐，Python/C++ SDK</a:t>
            </a:r>
            <a:endParaRPr lang="en-US" sz="82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F25B8A1-35D6-8C6D-AC99-970301AE994A}"/>
              </a:ext>
            </a:extLst>
          </p:cNvPr>
          <p:cNvSpPr/>
          <p:nvPr/>
        </p:nvSpPr>
        <p:spPr>
          <a:xfrm>
            <a:off x="1341120" y="3420364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179C103-9E35-0E5A-35B4-6E63C521DBC7}"/>
              </a:ext>
            </a:extLst>
          </p:cNvPr>
          <p:cNvSpPr/>
          <p:nvPr/>
        </p:nvSpPr>
        <p:spPr>
          <a:xfrm>
            <a:off x="1341120" y="3420364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615FE22-A304-DA98-0AE5-77F02204395A}"/>
              </a:ext>
            </a:extLst>
          </p:cNvPr>
          <p:cNvSpPr/>
          <p:nvPr/>
        </p:nvSpPr>
        <p:spPr>
          <a:xfrm>
            <a:off x="1505712" y="3548380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坐标转换</a:t>
            </a:r>
            <a:endParaRPr lang="en-US" sz="11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CAF42F27-371A-5501-3A84-F10FE3AC1E70}"/>
              </a:ext>
            </a:extLst>
          </p:cNvPr>
          <p:cNvSpPr/>
          <p:nvPr/>
        </p:nvSpPr>
        <p:spPr>
          <a:xfrm>
            <a:off x="1505712" y="3859276"/>
            <a:ext cx="3026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ball in rgbd_link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标定 T_arm_rgbd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得到 ball in arm_base</a:t>
            </a:r>
            <a:endParaRPr lang="en-US" sz="82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BE23155C-902E-F677-E255-8894FA5C4DA8}"/>
              </a:ext>
            </a:extLst>
          </p:cNvPr>
          <p:cNvSpPr/>
          <p:nvPr/>
        </p:nvSpPr>
        <p:spPr>
          <a:xfrm>
            <a:off x="1341120" y="4865116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EAFBF4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0EB1F8B-6876-7660-DFBC-74413D1C2BC9}"/>
              </a:ext>
            </a:extLst>
          </p:cNvPr>
          <p:cNvSpPr/>
          <p:nvPr/>
        </p:nvSpPr>
        <p:spPr>
          <a:xfrm>
            <a:off x="1341120" y="4865116"/>
            <a:ext cx="73152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1EDB47C-7454-6B51-02AE-6AF6CC42A750}"/>
              </a:ext>
            </a:extLst>
          </p:cNvPr>
          <p:cNvSpPr/>
          <p:nvPr/>
        </p:nvSpPr>
        <p:spPr>
          <a:xfrm>
            <a:off x="1505712" y="4993132"/>
            <a:ext cx="3017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机械臂动作</a:t>
            </a:r>
            <a:endParaRPr lang="en-US" sz="115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1BD8E2FC-5FD2-1E19-E5CE-F2AD335C1F7C}"/>
              </a:ext>
            </a:extLst>
          </p:cNvPr>
          <p:cNvSpPr/>
          <p:nvPr/>
        </p:nvSpPr>
        <p:spPr>
          <a:xfrm>
            <a:off x="1505712" y="5304028"/>
            <a:ext cx="30266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Pregrasp → Approach → Close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Lift → MoveToBag → Release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F2937"/>
                </a:solidFill>
              </a:rPr>
              <a:t>球袋固定，不再视觉定位</a:t>
            </a:r>
            <a:endParaRPr lang="en-US" sz="82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4BDD9501-D8A7-61C9-E534-755541E60FB8}"/>
              </a:ext>
            </a:extLst>
          </p:cNvPr>
          <p:cNvSpPr/>
          <p:nvPr/>
        </p:nvSpPr>
        <p:spPr>
          <a:xfrm>
            <a:off x="5318760" y="2185924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D253B6A5-449A-5DFF-2CB9-792B0E599FCE}"/>
              </a:ext>
            </a:extLst>
          </p:cNvPr>
          <p:cNvSpPr/>
          <p:nvPr/>
        </p:nvSpPr>
        <p:spPr>
          <a:xfrm>
            <a:off x="5373624" y="225907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Collection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Zone</a:t>
            </a:r>
            <a:endParaRPr lang="en-US" sz="850" dirty="0"/>
          </a:p>
        </p:txBody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FC53B7E6-00FA-42D5-F50C-F32A9A2501AE}"/>
              </a:ext>
            </a:extLst>
          </p:cNvPr>
          <p:cNvSpPr/>
          <p:nvPr/>
        </p:nvSpPr>
        <p:spPr>
          <a:xfrm>
            <a:off x="6617208" y="2441956"/>
            <a:ext cx="621792" cy="0"/>
          </a:xfrm>
          <a:prstGeom prst="line">
            <a:avLst/>
          </a:prstGeom>
          <a:noFill/>
          <a:ln w="15240">
            <a:solidFill>
              <a:srgbClr val="EF444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5559A78A-0CE8-7E30-1AC9-11EC684CD053}"/>
              </a:ext>
            </a:extLst>
          </p:cNvPr>
          <p:cNvSpPr/>
          <p:nvPr/>
        </p:nvSpPr>
        <p:spPr>
          <a:xfrm>
            <a:off x="7284720" y="2185924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84493830-5A20-9514-E27A-4AA3089C52D3}"/>
              </a:ext>
            </a:extLst>
          </p:cNvPr>
          <p:cNvSpPr/>
          <p:nvPr/>
        </p:nvSpPr>
        <p:spPr>
          <a:xfrm>
            <a:off x="7339584" y="225907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RGBD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5–40 cm</a:t>
            </a:r>
            <a:endParaRPr lang="en-US" sz="85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CD1D0B1D-BB8E-BB9D-EB0B-6A32735DFC1C}"/>
              </a:ext>
            </a:extLst>
          </p:cNvPr>
          <p:cNvSpPr/>
          <p:nvPr/>
        </p:nvSpPr>
        <p:spPr>
          <a:xfrm>
            <a:off x="8583168" y="2441956"/>
            <a:ext cx="62179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1">
            <a:extLst>
              <a:ext uri="{FF2B5EF4-FFF2-40B4-BE49-F238E27FC236}">
                <a16:creationId xmlns:a16="http://schemas.microsoft.com/office/drawing/2014/main" id="{7B8B9B78-4679-D494-589A-5057758412F5}"/>
              </a:ext>
            </a:extLst>
          </p:cNvPr>
          <p:cNvSpPr/>
          <p:nvPr/>
        </p:nvSpPr>
        <p:spPr>
          <a:xfrm>
            <a:off x="9250680" y="2185924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AF3FF"/>
          </a:solidFill>
          <a:ln w="12700">
            <a:solidFill>
              <a:srgbClr val="BBD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BAAFE168-63FE-BB5A-D131-EA5E8351F100}"/>
              </a:ext>
            </a:extLst>
          </p:cNvPr>
          <p:cNvSpPr/>
          <p:nvPr/>
        </p:nvSpPr>
        <p:spPr>
          <a:xfrm>
            <a:off x="9305544" y="225907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arm_base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XYZ</a:t>
            </a:r>
            <a:endParaRPr lang="en-US" sz="850" dirty="0"/>
          </a:p>
        </p:txBody>
      </p:sp>
      <p:sp>
        <p:nvSpPr>
          <p:cNvPr id="36" name="Shape 23">
            <a:extLst>
              <a:ext uri="{FF2B5EF4-FFF2-40B4-BE49-F238E27FC236}">
                <a16:creationId xmlns:a16="http://schemas.microsoft.com/office/drawing/2014/main" id="{F24ADA8C-8049-4F0D-C140-4E9E92ADD229}"/>
              </a:ext>
            </a:extLst>
          </p:cNvPr>
          <p:cNvSpPr/>
          <p:nvPr/>
        </p:nvSpPr>
        <p:spPr>
          <a:xfrm>
            <a:off x="9872472" y="2734564"/>
            <a:ext cx="0" cy="64008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24">
            <a:extLst>
              <a:ext uri="{FF2B5EF4-FFF2-40B4-BE49-F238E27FC236}">
                <a16:creationId xmlns:a16="http://schemas.microsoft.com/office/drawing/2014/main" id="{729858D1-813C-5AAD-6EED-F05E21B0635F}"/>
              </a:ext>
            </a:extLst>
          </p:cNvPr>
          <p:cNvSpPr/>
          <p:nvPr/>
        </p:nvSpPr>
        <p:spPr>
          <a:xfrm>
            <a:off x="9250680" y="3420364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AFBF4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D6FFF431-F730-00F7-9B45-2C9B2B21D4C5}"/>
              </a:ext>
            </a:extLst>
          </p:cNvPr>
          <p:cNvSpPr/>
          <p:nvPr/>
        </p:nvSpPr>
        <p:spPr>
          <a:xfrm>
            <a:off x="9305544" y="349351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机械臂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抓球</a:t>
            </a:r>
            <a:endParaRPr lang="en-US" sz="850" dirty="0"/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29B6A66C-6D4F-8E52-95EF-87CD10E6DED6}"/>
              </a:ext>
            </a:extLst>
          </p:cNvPr>
          <p:cNvSpPr/>
          <p:nvPr/>
        </p:nvSpPr>
        <p:spPr>
          <a:xfrm>
            <a:off x="9872472" y="3969004"/>
            <a:ext cx="0" cy="64008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979EA8AC-9678-A57D-EB13-57A351AD77F6}"/>
              </a:ext>
            </a:extLst>
          </p:cNvPr>
          <p:cNvSpPr/>
          <p:nvPr/>
        </p:nvSpPr>
        <p:spPr>
          <a:xfrm>
            <a:off x="9250680" y="4654804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FF7E6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8864EE98-71D1-815B-C365-F76CC8AB9B0A}"/>
              </a:ext>
            </a:extLst>
          </p:cNvPr>
          <p:cNvSpPr/>
          <p:nvPr/>
        </p:nvSpPr>
        <p:spPr>
          <a:xfrm>
            <a:off x="9305544" y="4727956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后方球袋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固定点</a:t>
            </a:r>
            <a:endParaRPr lang="en-US" sz="85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C22ED354-ADE4-3A44-AF45-46E62C80AE05}"/>
              </a:ext>
            </a:extLst>
          </p:cNvPr>
          <p:cNvSpPr/>
          <p:nvPr/>
        </p:nvSpPr>
        <p:spPr>
          <a:xfrm>
            <a:off x="5364480" y="5944108"/>
            <a:ext cx="5486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60" b="1" dirty="0">
                <a:solidFill>
                  <a:srgbClr val="1F2937"/>
                </a:solidFill>
              </a:rPr>
              <a:t>风险提示：常见 RGBD 的最小深度距离可能 ≥15 cm；采购时必须核实“5–10 cm 是否有有效深度图”。</a:t>
            </a:r>
            <a:endParaRPr lang="en-US" sz="860" dirty="0"/>
          </a:p>
        </p:txBody>
      </p:sp>
    </p:spTree>
    <p:extLst>
      <p:ext uri="{BB962C8B-B14F-4D97-AF65-F5344CB8AC3E}">
        <p14:creationId xmlns:p14="http://schemas.microsoft.com/office/powerpoint/2010/main" val="378225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08345-7954-4B48-D486-1E2949A3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>
            <a:extLst>
              <a:ext uri="{FF2B5EF4-FFF2-40B4-BE49-F238E27FC236}">
                <a16:creationId xmlns:a16="http://schemas.microsoft.com/office/drawing/2014/main" id="{3C60DA7D-DB7F-C8AB-E967-AE454BFBEC17}"/>
              </a:ext>
            </a:extLst>
          </p:cNvPr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Demo</a:t>
            </a:r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验收与真实场景扩展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60EEBFD-3478-6FD4-DEDD-9950CF735935}"/>
              </a:ext>
            </a:extLst>
          </p:cNvPr>
          <p:cNvSpPr/>
          <p:nvPr/>
        </p:nvSpPr>
        <p:spPr>
          <a:xfrm>
            <a:off x="746760" y="1545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3×5 m Demo</a:t>
            </a:r>
            <a:endParaRPr lang="en-US" sz="14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DCE7A5F3-B309-29E4-4FBC-D8314F11D4AB}"/>
              </a:ext>
            </a:extLst>
          </p:cNvPr>
          <p:cNvSpPr/>
          <p:nvPr/>
        </p:nvSpPr>
        <p:spPr>
          <a:xfrm>
            <a:off x="746760" y="1975104"/>
            <a:ext cx="3017520" cy="2403856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9FABD05F-18BB-73C6-0406-AA3AE4F4A79D}"/>
              </a:ext>
            </a:extLst>
          </p:cNvPr>
          <p:cNvSpPr/>
          <p:nvPr/>
        </p:nvSpPr>
        <p:spPr>
          <a:xfrm>
            <a:off x="746760" y="1975104"/>
            <a:ext cx="73152" cy="3337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16EBC74A-2266-E1C2-6605-2E4A5A4A73C4}"/>
              </a:ext>
            </a:extLst>
          </p:cNvPr>
          <p:cNvSpPr/>
          <p:nvPr/>
        </p:nvSpPr>
        <p:spPr>
          <a:xfrm>
            <a:off x="911352" y="2103120"/>
            <a:ext cx="2697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阶段验收</a:t>
            </a:r>
            <a:endParaRPr lang="en-US" sz="11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1662D7B0-4430-0758-C956-DD1E8E51F76A}"/>
              </a:ext>
            </a:extLst>
          </p:cNvPr>
          <p:cNvSpPr/>
          <p:nvPr/>
        </p:nvSpPr>
        <p:spPr>
          <a:xfrm>
            <a:off x="911352" y="2414016"/>
            <a:ext cx="270662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1. 高位相机检测 ≥10 个球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2. AprilTag 输出小车 (x,y,θ)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3. goto_pose 视觉闭环导航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4. V 型机构聚拢 2–4 个球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5. 近距离 RGBD + 机械臂抓取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</a:rPr>
              <a:t>6. 复扫、重规划、返回 Home</a:t>
            </a:r>
            <a:endParaRPr lang="en-US" sz="76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9B6CC473-6C71-519E-7B69-AFC2D8D4E7F0}"/>
              </a:ext>
            </a:extLst>
          </p:cNvPr>
          <p:cNvSpPr/>
          <p:nvPr/>
        </p:nvSpPr>
        <p:spPr>
          <a:xfrm>
            <a:off x="4285488" y="3191256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EAFBF4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081CDF51-EF05-3E09-A17D-1F0E8070F234}"/>
              </a:ext>
            </a:extLst>
          </p:cNvPr>
          <p:cNvSpPr/>
          <p:nvPr/>
        </p:nvSpPr>
        <p:spPr>
          <a:xfrm>
            <a:off x="4340352" y="3264408"/>
            <a:ext cx="112471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验证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F2937"/>
                </a:solidFill>
              </a:rPr>
              <a:t>核心链路</a:t>
            </a:r>
            <a:endParaRPr lang="en-US" sz="8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0CD50D52-0065-CDD0-5AD1-054B51E5C585}"/>
              </a:ext>
            </a:extLst>
          </p:cNvPr>
          <p:cNvSpPr/>
          <p:nvPr/>
        </p:nvSpPr>
        <p:spPr>
          <a:xfrm>
            <a:off x="3810000" y="3447288"/>
            <a:ext cx="429768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AA77A6F0-378F-C997-0D46-9A4369CFC0A8}"/>
              </a:ext>
            </a:extLst>
          </p:cNvPr>
          <p:cNvSpPr/>
          <p:nvPr/>
        </p:nvSpPr>
        <p:spPr>
          <a:xfrm>
            <a:off x="5565648" y="3447288"/>
            <a:ext cx="438912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FFB3955F-5DC0-9187-38E9-A6C23622B8A0}"/>
              </a:ext>
            </a:extLst>
          </p:cNvPr>
          <p:cNvSpPr/>
          <p:nvPr/>
        </p:nvSpPr>
        <p:spPr>
          <a:xfrm>
            <a:off x="6141720" y="15453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真实网球场扩展</a:t>
            </a:r>
            <a:endParaRPr lang="en-US" sz="140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3F0F1CCB-9241-F0A0-BA5D-10BC582FA980}"/>
              </a:ext>
            </a:extLst>
          </p:cNvPr>
          <p:cNvSpPr/>
          <p:nvPr/>
        </p:nvSpPr>
        <p:spPr>
          <a:xfrm>
            <a:off x="6141720" y="1975104"/>
            <a:ext cx="3017520" cy="2464816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0E0AE24D-D64B-6C2D-2163-ECA71CFF703A}"/>
              </a:ext>
            </a:extLst>
          </p:cNvPr>
          <p:cNvSpPr/>
          <p:nvPr/>
        </p:nvSpPr>
        <p:spPr>
          <a:xfrm>
            <a:off x="6141720" y="1975104"/>
            <a:ext cx="73152" cy="3337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611C490F-1A41-9D28-1D0D-784130037ACB}"/>
              </a:ext>
            </a:extLst>
          </p:cNvPr>
          <p:cNvSpPr/>
          <p:nvPr/>
        </p:nvSpPr>
        <p:spPr>
          <a:xfrm>
            <a:off x="6306312" y="2103120"/>
            <a:ext cx="2697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保留与升级</a:t>
            </a:r>
            <a:endParaRPr lang="en-US" sz="115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62AB226D-8F4A-7B41-2E69-3FF4E2356258}"/>
              </a:ext>
            </a:extLst>
          </p:cNvPr>
          <p:cNvSpPr/>
          <p:nvPr/>
        </p:nvSpPr>
        <p:spPr>
          <a:xfrm>
            <a:off x="6306312" y="2414016"/>
            <a:ext cx="270662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保留：World State / Planner / Gather / Local Grasp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升级：单相机 → 多高位相机或更高安装位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升级：视觉定位 → 视觉 + 编码器 + IMU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升级：简单闭环 → 局部避障与安全停车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F2937"/>
                </a:solidFill>
              </a:rPr>
              <a:t>升级：室内光照 → 更鲁棒检测模型</a:t>
            </a:r>
            <a:endParaRPr lang="en-US" sz="730" dirty="0"/>
          </a:p>
        </p:txBody>
      </p:sp>
      <p:sp>
        <p:nvSpPr>
          <p:cNvPr id="46" name="Shape 17">
            <a:extLst>
              <a:ext uri="{FF2B5EF4-FFF2-40B4-BE49-F238E27FC236}">
                <a16:creationId xmlns:a16="http://schemas.microsoft.com/office/drawing/2014/main" id="{3AA20CCB-4D51-CC68-C5B9-9D31134F9892}"/>
              </a:ext>
            </a:extLst>
          </p:cNvPr>
          <p:cNvSpPr/>
          <p:nvPr/>
        </p:nvSpPr>
        <p:spPr>
          <a:xfrm>
            <a:off x="9433560" y="1975104"/>
            <a:ext cx="2011680" cy="2220976"/>
          </a:xfrm>
          <a:prstGeom prst="roundRect">
            <a:avLst>
              <a:gd name="adj" fmla="val 3636"/>
            </a:avLst>
          </a:prstGeom>
          <a:solidFill>
            <a:srgbClr val="F3E8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9BF77849-44C1-D217-9B10-FCDC4D009752}"/>
              </a:ext>
            </a:extLst>
          </p:cNvPr>
          <p:cNvSpPr/>
          <p:nvPr/>
        </p:nvSpPr>
        <p:spPr>
          <a:xfrm>
            <a:off x="9433560" y="1975104"/>
            <a:ext cx="73152" cy="3337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D33F6056-9509-3C16-ED76-C99A6FC1E254}"/>
              </a:ext>
            </a:extLst>
          </p:cNvPr>
          <p:cNvSpPr/>
          <p:nvPr/>
        </p:nvSpPr>
        <p:spPr>
          <a:xfrm>
            <a:off x="9598152" y="2103120"/>
            <a:ext cx="16916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</a:rPr>
              <a:t>课程项目产出</a:t>
            </a:r>
            <a:endParaRPr lang="en-US" sz="1150" dirty="0"/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217BBC87-92BE-3E28-4462-B508510A1052}"/>
              </a:ext>
            </a:extLst>
          </p:cNvPr>
          <p:cNvSpPr/>
          <p:nvPr/>
        </p:nvSpPr>
        <p:spPr>
          <a:xfrm>
            <a:off x="9598152" y="2414016"/>
            <a:ext cx="1700784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</a:rPr>
              <a:t>能演示的机器人系统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</a:rPr>
              <a:t>可复现实验数据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</a:rPr>
              <a:t>模块化代码仓库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</a:rPr>
              <a:t>硬件选型与标定文档</a:t>
            </a:r>
            <a:endParaRPr lang="en-US" sz="78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D5E9326-CB10-0A46-E743-23599E271672}"/>
              </a:ext>
            </a:extLst>
          </p:cNvPr>
          <p:cNvSpPr txBox="1"/>
          <p:nvPr/>
        </p:nvSpPr>
        <p:spPr>
          <a:xfrm>
            <a:off x="1361440" y="4922520"/>
            <a:ext cx="11125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没有加避障的原因：网球场上很少有障碍物 甚至不会有小石子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B8FC4C3-E788-5802-7773-56DC0D6DE70F}"/>
              </a:ext>
            </a:extLst>
          </p:cNvPr>
          <p:cNvSpPr txBox="1"/>
          <p:nvPr/>
        </p:nvSpPr>
        <p:spPr>
          <a:xfrm>
            <a:off x="4068064" y="4846995"/>
            <a:ext cx="1112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如果进度顺利</a:t>
            </a:r>
            <a:r>
              <a:rPr lang="en-US" altLang="zh-CN" dirty="0"/>
              <a:t>V2demo</a:t>
            </a:r>
            <a:r>
              <a:rPr lang="zh-CN" altLang="en-US" dirty="0"/>
              <a:t>可以考虑球网</a:t>
            </a:r>
            <a:r>
              <a:rPr lang="en-US" altLang="zh-CN" dirty="0"/>
              <a:t>&amp;</a:t>
            </a:r>
            <a:r>
              <a:rPr lang="zh-CN" altLang="en-US" dirty="0"/>
              <a:t>网球分布</a:t>
            </a:r>
          </a:p>
        </p:txBody>
      </p:sp>
    </p:spTree>
    <p:extLst>
      <p:ext uri="{BB962C8B-B14F-4D97-AF65-F5344CB8AC3E}">
        <p14:creationId xmlns:p14="http://schemas.microsoft.com/office/powerpoint/2010/main" val="1277832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参考文献与资料来源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208" y="66751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6B7280"/>
                </a:solidFill>
              </a:rPr>
              <a:t>用于支撑 AprilTag、Homography、传感器融合与 RGBD 选型说明。</a:t>
            </a:r>
            <a:endParaRPr lang="en-US" sz="96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0160"/>
            <a:ext cx="1042416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F2937"/>
                </a:solidFill>
              </a:rPr>
              <a:t>[1] AprilRobotics. AprilTag 3: fiducial marker system with tag detection and pose estimation. GitHub repository.
[2] OpenCV Documentation. getPerspectiveTransform / Homography tutorial: perspective transform from point correspondences.
[3] ROS / Nav2 Documentation. robot_localization setup guide: fusing odometry sensor inputs for smooth odometry; EKF localization node documentation.
[4] Orbbec. Gemini 2 specifications: active stereo depth camera, depth/RGB resolution, range and IMU information.
[5] OpenCV / AprilTag community tools may be used only as implementation references; final parameters must be validated on the 3×5 m Demo.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852</Words>
  <Application>Microsoft Office PowerPoint</Application>
  <PresentationFormat>宽屏</PresentationFormat>
  <Paragraphs>170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TennisBot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TennisBot 开题报告</dc:title>
  <dc:subject>TennisBot Opening Proposal</dc:subject>
  <dc:creator>OpenAI</dc:creator>
  <cp:lastModifiedBy>彦鲁 王</cp:lastModifiedBy>
  <cp:revision>26</cp:revision>
  <dcterms:created xsi:type="dcterms:W3CDTF">2026-08-31T14:51:40Z</dcterms:created>
  <dcterms:modified xsi:type="dcterms:W3CDTF">2026-08-31T15:51:54Z</dcterms:modified>
</cp:coreProperties>
</file>