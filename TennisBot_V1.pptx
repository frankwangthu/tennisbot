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83" r:id="rId3"/>
    <p:sldId id="286" r:id="rId4"/>
    <p:sldId id="291" r:id="rId5"/>
    <p:sldId id="258" r:id="rId6"/>
    <p:sldId id="285" r:id="rId7"/>
    <p:sldId id="284" r:id="rId8"/>
    <p:sldId id="287" r:id="rId9"/>
    <p:sldId id="288" r:id="rId10"/>
    <p:sldId id="292" r:id="rId11"/>
    <p:sldId id="290" r:id="rId12"/>
    <p:sldId id="289" r:id="rId13"/>
    <p:sldId id="264" r:id="rId14"/>
  </p:sldIdLst>
  <p:sldSz cx="12192000" cy="6858000"/>
  <p:notesSz cx="6858000" cy="12192000"/>
  <p:custDataLst>
    <p:tags r:id="rId1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7" autoAdjust="0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050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66017-17B8-424C-9C68-B7C18D8AE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BDE1A-7FC4-77DB-15CE-ED2D2A79C5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B7BEC-C136-1D1E-3C96-3B74434B5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127E6-1F0F-F518-A967-2633FAD019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534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02F0A-75AD-9EB9-213B-90C8A83D8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A26025-5259-C552-13C0-2D3FEB6B8C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9FEA0A-5233-204A-B5B5-6262E94D7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89D9E-1912-BF63-9558-F6A587B4A9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46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C38C7-1726-003B-38CA-DEC01DFA5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C0053E-712A-E2AC-AE43-42522F116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B6420-CAD4-75CF-107C-883C35301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63A07-637F-4411-C6F6-59594A8474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628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8F0ED-3FAF-4FFC-CEEF-5EA5FEE29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511F5-C151-BE32-08B2-5F6FD9E57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A546BA-7FAF-030D-0255-1799B3477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B515E-D304-D69A-BF54-0D6CD4DADC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5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1A6FD-A128-599F-5F1A-D9EC86579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7AC1DE-0996-1093-D6BC-D1EE89C6B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2D9044-7A19-B035-367A-14B687233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F1B9A-AA7C-9AD4-2DB8-E08C2EBC80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00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F4A18-89F0-AD80-55AD-8FCE2DFF6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411637-8C99-0B4D-FFC2-F346B3B79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55EE71-0645-ED7A-9276-CE143A0CB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DD1DE-5771-AD9C-85F6-6012CAAB22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110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64CDD-6652-B181-5424-D7BA05E6E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7E0207-BA4F-5154-3E25-6F79A0298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9018E9-FF62-BA3C-3C89-56993A027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B9BCF-E2B1-799B-8F0A-D326B0990A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9059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D6117-DC82-AC9E-D610-A94EB3401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5333FC-2C79-13D1-132D-41C11B6FF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D01140-7F15-1467-B5B1-D79446024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55435-537C-6CBB-1A7C-F8DCE4CB6C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7431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F41084-7F64-B011-2B10-321DE2B84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567743-3E00-5707-6E4F-911B84C30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F776B9-688F-09E8-A2AF-057E5B25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9E82D-F7A6-47F0-B36F-48210157603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94B038-E0EE-7869-9D04-B1C2E0A6B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FA3B7B-4903-A96E-2B74-BE926270A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8B38A-547B-4FD3-B28B-9AACE6C0AB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689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microsoft.com/office/2007/relationships/media" Target="../media/media2.mp4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6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5.png"/><Relationship Id="rId5" Type="http://schemas.microsoft.com/office/2007/relationships/media" Target="../media/media3.mp4"/><Relationship Id="rId10" Type="http://schemas.openxmlformats.org/officeDocument/2006/relationships/image" Target="../media/image4.png"/><Relationship Id="rId4" Type="http://schemas.openxmlformats.org/officeDocument/2006/relationships/video" Target="../media/media2.mp4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51560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</a:rPr>
              <a:t>TennisBot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94944" y="177393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280"/>
                </a:solidFill>
              </a:rPr>
              <a:t>面向 3×5 m 实验室 Demo 的自主网球收集机器人开题报告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94944" y="2212848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工程实践导向：全局感知 · 小车定位 · 任务规划 · V 型聚拢 · 近距离 RGBD · 机械臂装袋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" y="329184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EAF3FF"/>
          </a:solidFill>
          <a:ln w="12700">
            <a:solidFill>
              <a:srgbClr val="BBD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3364992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高位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RGB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48256" y="3575304"/>
            <a:ext cx="722376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16352" y="329184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EAFB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71216" y="3364992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PC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规划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0" y="3575304"/>
            <a:ext cx="722376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82896" y="329184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FF7E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3364992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小车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导航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1344" y="3575304"/>
            <a:ext cx="722376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49440" y="329184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3E8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04304" y="3364992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V型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聚拢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47888" y="3575304"/>
            <a:ext cx="722376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15984" y="329184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0848" y="3364992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RGBD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精抓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44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报告重点：先讲清楚可落地系统链路，再说明 Demo 验证与真实球场扩展路径。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94944" y="5806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汇报时长：约 6 分钟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02920" y="6528816"/>
            <a:ext cx="11201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9CA3AF"/>
                </a:solidFill>
              </a:rPr>
              <a:t>TennisBot | 6-min opening proposal | engineering practice demo</a:t>
            </a:r>
            <a:endParaRPr lang="en-US" sz="6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>
            <a:extLst>
              <a:ext uri="{FF2B5EF4-FFF2-40B4-BE49-F238E27FC236}">
                <a16:creationId xmlns:a16="http://schemas.microsoft.com/office/drawing/2014/main" id="{34FA6834-58CF-B7FB-357F-DEBCF15E8E21}"/>
              </a:ext>
            </a:extLst>
          </p:cNvPr>
          <p:cNvSpPr txBox="1">
            <a:spLocks/>
          </p:cNvSpPr>
          <p:nvPr/>
        </p:nvSpPr>
        <p:spPr>
          <a:xfrm>
            <a:off x="5353050" y="7172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10C33C-257C-6A0E-80D1-5300B5EC26B9}"/>
              </a:ext>
            </a:extLst>
          </p:cNvPr>
          <p:cNvSpPr txBox="1"/>
          <p:nvPr/>
        </p:nvSpPr>
        <p:spPr>
          <a:xfrm>
            <a:off x="534444" y="551784"/>
            <a:ext cx="77918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项目背景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F15E4B-2FC3-9E68-2BA9-2F396251CD60}"/>
              </a:ext>
            </a:extLst>
          </p:cNvPr>
          <p:cNvSpPr txBox="1"/>
          <p:nvPr/>
        </p:nvSpPr>
        <p:spPr>
          <a:xfrm>
            <a:off x="534444" y="1819373"/>
            <a:ext cx="16055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直接到高校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打网球人很多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FDF99D-7423-C30A-BAC3-1A9454E45590}"/>
              </a:ext>
            </a:extLst>
          </p:cNvPr>
          <p:cNvSpPr txBox="1"/>
          <p:nvPr/>
        </p:nvSpPr>
        <p:spPr>
          <a:xfrm>
            <a:off x="6156593" y="1830487"/>
            <a:ext cx="6533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训练球不好捡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7B530E8-F692-3104-A416-EA466382BD81}"/>
              </a:ext>
            </a:extLst>
          </p:cNvPr>
          <p:cNvSpPr txBox="1"/>
          <p:nvPr/>
        </p:nvSpPr>
        <p:spPr>
          <a:xfrm>
            <a:off x="4305300" y="3505200"/>
            <a:ext cx="122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身边就能用上</a:t>
            </a:r>
          </a:p>
        </p:txBody>
      </p:sp>
    </p:spTree>
    <p:extLst>
      <p:ext uri="{BB962C8B-B14F-4D97-AF65-F5344CB8AC3E}">
        <p14:creationId xmlns:p14="http://schemas.microsoft.com/office/powerpoint/2010/main" val="3435666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18D79-CA51-7388-EFAA-7FDF02AB1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>
            <a:extLst>
              <a:ext uri="{FF2B5EF4-FFF2-40B4-BE49-F238E27FC236}">
                <a16:creationId xmlns:a16="http://schemas.microsoft.com/office/drawing/2014/main" id="{9B8A3998-1056-3EAC-C44B-D4154044AFBA}"/>
              </a:ext>
            </a:extLst>
          </p:cNvPr>
          <p:cNvSpPr txBox="1">
            <a:spLocks/>
          </p:cNvSpPr>
          <p:nvPr/>
        </p:nvSpPr>
        <p:spPr>
          <a:xfrm>
            <a:off x="5353050" y="7172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2FD7A5-D6BA-A899-E163-2460BD6965A6}"/>
              </a:ext>
            </a:extLst>
          </p:cNvPr>
          <p:cNvSpPr txBox="1"/>
          <p:nvPr/>
        </p:nvSpPr>
        <p:spPr>
          <a:xfrm>
            <a:off x="534444" y="551784"/>
            <a:ext cx="77918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现有方案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A0B329C-37E0-A92D-6434-3A0A3B1548D2}"/>
              </a:ext>
            </a:extLst>
          </p:cNvPr>
          <p:cNvSpPr txBox="1"/>
          <p:nvPr/>
        </p:nvSpPr>
        <p:spPr>
          <a:xfrm>
            <a:off x="534444" y="1819373"/>
            <a:ext cx="653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捡球器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F069401-10F3-1062-90E3-DEA1C4A691E0}"/>
              </a:ext>
            </a:extLst>
          </p:cNvPr>
          <p:cNvSpPr txBox="1"/>
          <p:nvPr/>
        </p:nvSpPr>
        <p:spPr>
          <a:xfrm>
            <a:off x="4331028" y="2204113"/>
            <a:ext cx="653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市售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D07107-57A8-52DC-BAB8-A172D4AAED7C}"/>
              </a:ext>
            </a:extLst>
          </p:cNvPr>
          <p:cNvSpPr txBox="1"/>
          <p:nvPr/>
        </p:nvSpPr>
        <p:spPr>
          <a:xfrm>
            <a:off x="8572828" y="2171847"/>
            <a:ext cx="653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前人工作</a:t>
            </a:r>
          </a:p>
        </p:txBody>
      </p:sp>
    </p:spTree>
    <p:extLst>
      <p:ext uri="{BB962C8B-B14F-4D97-AF65-F5344CB8AC3E}">
        <p14:creationId xmlns:p14="http://schemas.microsoft.com/office/powerpoint/2010/main" val="3598010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521E5-D988-57D6-CEC0-0B8504512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框 45">
            <a:extLst>
              <a:ext uri="{FF2B5EF4-FFF2-40B4-BE49-F238E27FC236}">
                <a16:creationId xmlns:a16="http://schemas.microsoft.com/office/drawing/2014/main" id="{0FE572C5-F614-8508-7AB0-82C629818EEA}"/>
              </a:ext>
            </a:extLst>
          </p:cNvPr>
          <p:cNvSpPr txBox="1"/>
          <p:nvPr/>
        </p:nvSpPr>
        <p:spPr>
          <a:xfrm>
            <a:off x="534444" y="551784"/>
            <a:ext cx="448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技术方案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20DD38C-6410-8CDB-AF30-52B59A681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869" y="1376079"/>
            <a:ext cx="8370094" cy="4710680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3F7E3925-3ED9-6B41-669E-0CD9E95BA819}"/>
              </a:ext>
            </a:extLst>
          </p:cNvPr>
          <p:cNvSpPr txBox="1"/>
          <p:nvPr/>
        </p:nvSpPr>
        <p:spPr>
          <a:xfrm>
            <a:off x="534444" y="1330762"/>
            <a:ext cx="2895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高位RGB相机</a:t>
            </a:r>
          </a:p>
          <a:p>
            <a:r>
              <a:rPr lang="zh-CN" altLang="en-US" dirty="0"/>
              <a:t>  ↓ 图像</a:t>
            </a:r>
          </a:p>
          <a:p>
            <a:r>
              <a:rPr lang="zh-CN" altLang="en-US" dirty="0"/>
              <a:t>PC视觉模块</a:t>
            </a:r>
          </a:p>
          <a:p>
            <a:r>
              <a:rPr lang="zh-CN" altLang="en-US" dirty="0"/>
              <a:t>  ↓ 球坐标 + 小车位姿</a:t>
            </a:r>
          </a:p>
          <a:p>
            <a:r>
              <a:rPr lang="zh-CN" altLang="en-US" dirty="0"/>
              <a:t>任务规划/路径规划</a:t>
            </a:r>
          </a:p>
          <a:p>
            <a:r>
              <a:rPr lang="zh-CN" altLang="en-US" dirty="0"/>
              <a:t>  ↓ 目标位姿 / Sweep任务</a:t>
            </a:r>
          </a:p>
          <a:p>
            <a:r>
              <a:rPr lang="zh-CN" altLang="en-US" dirty="0"/>
              <a:t>小车控制</a:t>
            </a:r>
          </a:p>
          <a:p>
            <a:r>
              <a:rPr lang="zh-CN" altLang="en-US" dirty="0"/>
              <a:t>  ↓</a:t>
            </a:r>
          </a:p>
          <a:p>
            <a:r>
              <a:rPr lang="zh-CN" altLang="en-US" dirty="0"/>
              <a:t>聚拢</a:t>
            </a:r>
          </a:p>
          <a:p>
            <a:r>
              <a:rPr lang="zh-CN" altLang="en-US" dirty="0"/>
              <a:t>  ↓</a:t>
            </a:r>
          </a:p>
          <a:p>
            <a:r>
              <a:rPr lang="zh-CN" altLang="en-US" dirty="0"/>
              <a:t>车载RGBD</a:t>
            </a:r>
          </a:p>
          <a:p>
            <a:r>
              <a:rPr lang="zh-CN" altLang="en-US" dirty="0"/>
              <a:t>  ↓ 球3D坐标</a:t>
            </a:r>
          </a:p>
          <a:p>
            <a:r>
              <a:rPr lang="zh-CN" altLang="en-US" dirty="0"/>
              <a:t>机械臂</a:t>
            </a:r>
          </a:p>
          <a:p>
            <a:r>
              <a:rPr lang="zh-CN" altLang="en-US" dirty="0"/>
              <a:t>  ↓</a:t>
            </a:r>
          </a:p>
          <a:p>
            <a:r>
              <a:rPr lang="zh-CN" altLang="en-US" dirty="0"/>
              <a:t>抓取 → 后方球袋</a:t>
            </a:r>
          </a:p>
          <a:p>
            <a:r>
              <a:rPr lang="zh-CN" altLang="en-US" dirty="0"/>
              <a:t>  ↓</a:t>
            </a:r>
          </a:p>
          <a:p>
            <a:r>
              <a:rPr lang="zh-CN" altLang="en-US" dirty="0"/>
              <a:t>高位相机复检 → 重规划</a:t>
            </a:r>
          </a:p>
        </p:txBody>
      </p:sp>
    </p:spTree>
    <p:extLst>
      <p:ext uri="{BB962C8B-B14F-4D97-AF65-F5344CB8AC3E}">
        <p14:creationId xmlns:p14="http://schemas.microsoft.com/office/powerpoint/2010/main" val="809410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8368" y="1169086"/>
            <a:ext cx="9601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6B7280"/>
                </a:solidFill>
              </a:rPr>
              <a:t>复用网球场鹰眼系统高清摄像头</a:t>
            </a:r>
            <a:endParaRPr lang="en-US" altLang="zh-CN" sz="1600" b="1" dirty="0">
              <a:solidFill>
                <a:srgbClr val="6B7280"/>
              </a:solidFill>
            </a:endParaRP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6B7280"/>
                </a:solidFill>
              </a:rPr>
              <a:t>在</a:t>
            </a:r>
            <a:r>
              <a:rPr lang="en-US" altLang="zh-CN" sz="1600" b="1" dirty="0">
                <a:solidFill>
                  <a:srgbClr val="6B7280"/>
                </a:solidFill>
              </a:rPr>
              <a:t>demo</a:t>
            </a:r>
            <a:r>
              <a:rPr lang="zh-CN" altLang="en-US" sz="1600" b="1" dirty="0">
                <a:solidFill>
                  <a:srgbClr val="6B7280"/>
                </a:solidFill>
              </a:rPr>
              <a:t>中采用</a:t>
            </a:r>
            <a:r>
              <a:rPr lang="en-US" altLang="zh-CN" sz="1600" b="1" dirty="0">
                <a:solidFill>
                  <a:srgbClr val="6B7280"/>
                </a:solidFill>
              </a:rPr>
              <a:t>2.8m 1080P RGB</a:t>
            </a:r>
            <a:r>
              <a:rPr lang="zh-CN" altLang="en-US" sz="1600" b="1" dirty="0">
                <a:solidFill>
                  <a:srgbClr val="6B7280"/>
                </a:solidFill>
              </a:rPr>
              <a:t>摄像头</a:t>
            </a:r>
            <a:endParaRPr lang="en-US" sz="1600" b="1" dirty="0"/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400D8AE-70DC-8C46-327A-992E196383F6}"/>
              </a:ext>
            </a:extLst>
          </p:cNvPr>
          <p:cNvGrpSpPr/>
          <p:nvPr/>
        </p:nvGrpSpPr>
        <p:grpSpPr>
          <a:xfrm>
            <a:off x="911352" y="2369311"/>
            <a:ext cx="3145536" cy="1261872"/>
            <a:chOff x="929640" y="1864360"/>
            <a:chExt cx="3145536" cy="1261872"/>
          </a:xfrm>
        </p:grpSpPr>
        <p:sp>
          <p:nvSpPr>
            <p:cNvPr id="6" name="Shape 4"/>
            <p:cNvSpPr/>
            <p:nvPr/>
          </p:nvSpPr>
          <p:spPr>
            <a:xfrm>
              <a:off x="929640" y="1864360"/>
              <a:ext cx="73152" cy="1261872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>
                  <a:alpha val="0"/>
                </a:srgbClr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1094232" y="1992376"/>
              <a:ext cx="2971800" cy="2286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F2937"/>
                  </a:solidFill>
                </a:rPr>
                <a:t>网球定位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094232" y="2303272"/>
              <a:ext cx="2980944" cy="73152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F2937"/>
                  </a:solidFill>
                </a:rPr>
                <a:t>检测图像中心</a:t>
              </a:r>
              <a:r>
                <a:rPr lang="en-US" sz="1600" dirty="0">
                  <a:solidFill>
                    <a:srgbClr val="1F2937"/>
                  </a:solidFill>
                </a:rPr>
                <a:t> (u, v)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1F2937"/>
                  </a:solidFill>
                </a:rPr>
                <a:t>通过场地四角标定做 Homography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1F2937"/>
                  </a:solidFill>
                </a:rPr>
                <a:t>输出每个球的 world 坐标 (x, y)</a:t>
              </a:r>
              <a:endParaRPr lang="en-US" sz="1400" dirty="0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37F214A-C3CF-0460-0A9B-37E43DB39FB8}"/>
              </a:ext>
            </a:extLst>
          </p:cNvPr>
          <p:cNvGrpSpPr/>
          <p:nvPr/>
        </p:nvGrpSpPr>
        <p:grpSpPr>
          <a:xfrm>
            <a:off x="947928" y="4392495"/>
            <a:ext cx="3145536" cy="1261872"/>
            <a:chOff x="929640" y="3391408"/>
            <a:chExt cx="3145536" cy="1261872"/>
          </a:xfrm>
        </p:grpSpPr>
        <p:sp>
          <p:nvSpPr>
            <p:cNvPr id="10" name="Shape 8"/>
            <p:cNvSpPr/>
            <p:nvPr/>
          </p:nvSpPr>
          <p:spPr>
            <a:xfrm>
              <a:off x="929640" y="3391408"/>
              <a:ext cx="73152" cy="1261872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>
                  <a:alpha val="0"/>
                </a:srgbClr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1094232" y="3519424"/>
              <a:ext cx="2971800" cy="2286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2937"/>
                  </a:solidFill>
                </a:rPr>
                <a:t>小车定位</a:t>
              </a:r>
              <a:endParaRPr lang="en-US" sz="1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094232" y="3830320"/>
              <a:ext cx="2980944" cy="73152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r>
                <a:rPr lang="en-US" sz="1400" dirty="0" err="1">
                  <a:solidFill>
                    <a:srgbClr val="1F2937"/>
                  </a:solidFill>
                </a:rPr>
                <a:t>车顶贴</a:t>
              </a:r>
              <a:r>
                <a:rPr lang="en-US" sz="1400" dirty="0">
                  <a:solidFill>
                    <a:srgbClr val="1F2937"/>
                  </a:solidFill>
                </a:rPr>
                <a:t> </a:t>
              </a:r>
              <a:r>
                <a:rPr lang="en-US" sz="1400" dirty="0" err="1">
                  <a:solidFill>
                    <a:srgbClr val="1F2937"/>
                  </a:solidFill>
                </a:rPr>
                <a:t>AprilTag</a:t>
              </a:r>
              <a:endParaRPr lang="en-US" sz="1400" dirty="0">
                <a:solidFill>
                  <a:srgbClr val="1F2937"/>
                </a:solidFill>
              </a:endParaRPr>
            </a:p>
            <a:p>
              <a:r>
                <a:rPr lang="en-US" sz="1400" dirty="0">
                  <a:solidFill>
                    <a:srgbClr val="1F2937"/>
                  </a:solidFill>
                </a:rPr>
                <a:t>同一高位相机识别 tag </a:t>
              </a:r>
              <a:r>
                <a:rPr lang="en-US" sz="1400" dirty="0" err="1">
                  <a:solidFill>
                    <a:srgbClr val="1F2937"/>
                  </a:solidFill>
                </a:rPr>
                <a:t>中心与方向</a:t>
              </a:r>
              <a:endParaRPr lang="en-US" sz="1400" dirty="0">
                <a:solidFill>
                  <a:srgbClr val="1F2937"/>
                </a:solidFill>
              </a:endParaRPr>
            </a:p>
            <a:p>
              <a:r>
                <a:rPr lang="en-US" sz="1400" dirty="0">
                  <a:solidFill>
                    <a:srgbClr val="1F2937"/>
                  </a:solidFill>
                </a:rPr>
                <a:t>输出 robot = (x, y, θ)</a:t>
              </a:r>
            </a:p>
          </p:txBody>
        </p:sp>
      </p:grpSp>
      <p:sp>
        <p:nvSpPr>
          <p:cNvPr id="17" name="Shape 15"/>
          <p:cNvSpPr/>
          <p:nvPr/>
        </p:nvSpPr>
        <p:spPr>
          <a:xfrm>
            <a:off x="5248910" y="2172208"/>
            <a:ext cx="6172200" cy="397764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74640" y="22534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world frame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60440" y="2748280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23480" y="3296920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00920" y="2656840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00520" y="4988560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69400" y="5354320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23880" y="4394200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48168" y="3833876"/>
            <a:ext cx="1016000" cy="57404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58988" y="4037583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50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DD429258-218B-5487-B279-84CF7DB72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7270" y="3946144"/>
            <a:ext cx="366226" cy="360504"/>
          </a:xfrm>
          <a:prstGeom prst="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2B7299C7-AA87-F96B-B7AD-034B52E20F86}"/>
              </a:ext>
            </a:extLst>
          </p:cNvPr>
          <p:cNvSpPr/>
          <p:nvPr/>
        </p:nvSpPr>
        <p:spPr>
          <a:xfrm>
            <a:off x="5248910" y="2186430"/>
            <a:ext cx="76200" cy="7315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8458C29-1F9F-E238-A90E-DD5CF3FAD831}"/>
              </a:ext>
            </a:extLst>
          </p:cNvPr>
          <p:cNvSpPr/>
          <p:nvPr/>
        </p:nvSpPr>
        <p:spPr>
          <a:xfrm>
            <a:off x="5247640" y="6063742"/>
            <a:ext cx="76200" cy="7315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C89DEB2-D226-D989-3F3B-D782A1D6928B}"/>
              </a:ext>
            </a:extLst>
          </p:cNvPr>
          <p:cNvSpPr/>
          <p:nvPr/>
        </p:nvSpPr>
        <p:spPr>
          <a:xfrm>
            <a:off x="11346180" y="2176271"/>
            <a:ext cx="76200" cy="7315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CBE9CB5-F5DF-980E-54B9-8909CD0A76CA}"/>
              </a:ext>
            </a:extLst>
          </p:cNvPr>
          <p:cNvSpPr/>
          <p:nvPr/>
        </p:nvSpPr>
        <p:spPr>
          <a:xfrm>
            <a:off x="11344910" y="6053583"/>
            <a:ext cx="76200" cy="7315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3831D48-B899-3E4E-9501-D1F39FCE9812}"/>
              </a:ext>
            </a:extLst>
          </p:cNvPr>
          <p:cNvSpPr txBox="1"/>
          <p:nvPr/>
        </p:nvSpPr>
        <p:spPr>
          <a:xfrm>
            <a:off x="6207760" y="2698321"/>
            <a:ext cx="492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b="1" dirty="0">
                <a:solidFill>
                  <a:srgbClr val="1F2937"/>
                </a:solidFill>
              </a:rPr>
              <a:t>(</a:t>
            </a:r>
            <a:r>
              <a:rPr lang="en-US" altLang="zh-CN" sz="1000" b="1" dirty="0" err="1">
                <a:solidFill>
                  <a:srgbClr val="1F2937"/>
                </a:solidFill>
              </a:rPr>
              <a:t>u,v</a:t>
            </a:r>
            <a:r>
              <a:rPr lang="en-US" altLang="zh-CN" sz="1000" b="1" dirty="0">
                <a:solidFill>
                  <a:srgbClr val="1F2937"/>
                </a:solidFill>
              </a:rPr>
              <a:t>)</a:t>
            </a:r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4F770AE-992C-3B71-0C25-317D667A7BA0}"/>
              </a:ext>
            </a:extLst>
          </p:cNvPr>
          <p:cNvSpPr txBox="1"/>
          <p:nvPr/>
        </p:nvSpPr>
        <p:spPr>
          <a:xfrm>
            <a:off x="8173170" y="4448712"/>
            <a:ext cx="79099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b="1" dirty="0">
                <a:solidFill>
                  <a:srgbClr val="1F2937"/>
                </a:solidFill>
              </a:rPr>
              <a:t>(</a:t>
            </a:r>
            <a:r>
              <a:rPr lang="en-US" altLang="zh-CN" sz="1000" b="1" dirty="0" err="1">
                <a:solidFill>
                  <a:srgbClr val="1F2937"/>
                </a:solidFill>
              </a:rPr>
              <a:t>x,y,θ</a:t>
            </a:r>
            <a:r>
              <a:rPr lang="en-US" altLang="zh-CN" sz="1000" b="1" dirty="0">
                <a:solidFill>
                  <a:srgbClr val="1F2937"/>
                </a:solidFill>
              </a:rPr>
              <a:t>)</a:t>
            </a:r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F1448DB-4F16-C0AD-68AE-ACE2CFBDF9A9}"/>
              </a:ext>
            </a:extLst>
          </p:cNvPr>
          <p:cNvSpPr txBox="1"/>
          <p:nvPr/>
        </p:nvSpPr>
        <p:spPr>
          <a:xfrm>
            <a:off x="534444" y="551784"/>
            <a:ext cx="6232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全局视觉：同时定位网球与小车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6C05FB58-B1E4-FA4B-CC1C-2F147026F070}"/>
              </a:ext>
            </a:extLst>
          </p:cNvPr>
          <p:cNvCxnSpPr/>
          <p:nvPr/>
        </p:nvCxnSpPr>
        <p:spPr>
          <a:xfrm flipH="1" flipV="1">
            <a:off x="7605776" y="3713480"/>
            <a:ext cx="342392" cy="19202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417D421A-2B81-F0F3-2B28-AB9B8BF96697}"/>
              </a:ext>
            </a:extLst>
          </p:cNvPr>
          <p:cNvCxnSpPr>
            <a:cxnSpLocks/>
          </p:cNvCxnSpPr>
          <p:nvPr/>
        </p:nvCxnSpPr>
        <p:spPr>
          <a:xfrm flipH="1">
            <a:off x="7605776" y="4352614"/>
            <a:ext cx="342392" cy="19219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7C3DE-FC3F-6ABF-976D-4B1B2CC0B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>
                <a:extLst>
                  <a:ext uri="{FF2B5EF4-FFF2-40B4-BE49-F238E27FC236}">
                    <a16:creationId xmlns:a16="http://schemas.microsoft.com/office/drawing/2014/main" id="{976B099A-BB4A-AF4C-AC2C-79303E03C9FD}"/>
                  </a:ext>
                </a:extLst>
              </p:cNvPr>
              <p:cNvSpPr/>
              <p:nvPr/>
            </p:nvSpPr>
            <p:spPr>
              <a:xfrm>
                <a:off x="579348" y="1227617"/>
                <a:ext cx="9308017" cy="85681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lvl="0"/>
                <a:r>
                  <a:rPr lang="zh-CN" altLang="zh-CN" b="1" dirty="0">
                    <a:latin typeface="+mj-lt"/>
                  </a:rPr>
                  <a:t>核心挑战</a:t>
                </a:r>
                <a:r>
                  <a:rPr lang="zh-CN" altLang="zh-CN" dirty="0">
                    <a:latin typeface="+mj-lt"/>
                  </a:rPr>
                  <a:t>：在网球场等大场景中，捡球效率取决于路径规划；受转向半径、机械臂动作等运动学/动力学约束限制。</a:t>
                </a:r>
              </a:p>
              <a:p>
                <a:pPr lvl="0"/>
                <a:r>
                  <a:rPr lang="zh-CN" altLang="zh-CN" b="1" dirty="0">
                    <a:latin typeface="+mj-lt"/>
                  </a:rPr>
                  <a:t>验证方案</a:t>
                </a:r>
                <a:r>
                  <a:rPr lang="zh-CN" altLang="zh-CN" dirty="0">
                    <a:latin typeface="+mj-lt"/>
                  </a:rPr>
                  <a:t>：仿真环境建模（加入机械臂/转向负担）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3×5</m:t>
                    </m:r>
                    <m:r>
                      <m:rPr>
                        <m:nor/>
                      </m:rPr>
                      <a:rPr lang="zh-CN" altLang="en-US" i="0">
                        <a:latin typeface="+mj-lt"/>
                      </a:rPr>
                      <m:t> m</m:t>
                    </m:r>
                  </m:oMath>
                </a14:m>
                <a:r>
                  <a:rPr lang="zh-CN" altLang="zh-CN" dirty="0">
                    <a:latin typeface="+mj-lt"/>
                  </a:rPr>
                  <a:t>真实场景应用验证。</a:t>
                </a:r>
              </a:p>
            </p:txBody>
          </p:sp>
        </mc:Choice>
        <mc:Fallback xmlns="">
          <p:sp>
            <p:nvSpPr>
              <p:cNvPr id="3" name="Text 1">
                <a:extLst>
                  <a:ext uri="{FF2B5EF4-FFF2-40B4-BE49-F238E27FC236}">
                    <a16:creationId xmlns:a16="http://schemas.microsoft.com/office/drawing/2014/main" id="{976B099A-BB4A-AF4C-AC2C-79303E03C9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48" y="1227617"/>
                <a:ext cx="9308017" cy="856818"/>
              </a:xfrm>
              <a:prstGeom prst="rect">
                <a:avLst/>
              </a:prstGeom>
              <a:blipFill>
                <a:blip r:embed="rId9"/>
                <a:stretch>
                  <a:fillRect l="-1506" t="-7092" b="-148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本框 46">
            <a:extLst>
              <a:ext uri="{FF2B5EF4-FFF2-40B4-BE49-F238E27FC236}">
                <a16:creationId xmlns:a16="http://schemas.microsoft.com/office/drawing/2014/main" id="{4112E349-71A1-D6E6-9458-B87653382D51}"/>
              </a:ext>
            </a:extLst>
          </p:cNvPr>
          <p:cNvSpPr txBox="1"/>
          <p:nvPr/>
        </p:nvSpPr>
        <p:spPr>
          <a:xfrm>
            <a:off x="534443" y="551784"/>
            <a:ext cx="69608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路径规划：约束建模与捡球效率优化</a:t>
            </a:r>
          </a:p>
        </p:txBody>
      </p:sp>
      <p:pic>
        <p:nvPicPr>
          <p:cNvPr id="2" name="42da57ebed6c36597536ccee6ec0c2a7">
            <a:hlinkClick r:id="" action="ppaction://media"/>
            <a:extLst>
              <a:ext uri="{FF2B5EF4-FFF2-40B4-BE49-F238E27FC236}">
                <a16:creationId xmlns:a16="http://schemas.microsoft.com/office/drawing/2014/main" id="{C4224B42-F2BD-0D1E-CC40-CE00C4F24C3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041043" y="2735836"/>
            <a:ext cx="4109913" cy="2924049"/>
          </a:xfrm>
          <a:prstGeom prst="rect">
            <a:avLst/>
          </a:prstGeom>
        </p:spPr>
      </p:pic>
      <p:pic>
        <p:nvPicPr>
          <p:cNvPr id="4" name="19bf36658e0dc9832e09d2dfa51630dd">
            <a:hlinkClick r:id="" action="ppaction://media"/>
            <a:extLst>
              <a:ext uri="{FF2B5EF4-FFF2-40B4-BE49-F238E27FC236}">
                <a16:creationId xmlns:a16="http://schemas.microsoft.com/office/drawing/2014/main" id="{3AF4008E-43CF-EF5D-12CF-E92C0AC98A97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78047" y="2764867"/>
            <a:ext cx="4109913" cy="292404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B78DA8F-3C2C-A711-0608-C7070378727D}"/>
              </a:ext>
            </a:extLst>
          </p:cNvPr>
          <p:cNvSpPr txBox="1"/>
          <p:nvPr/>
        </p:nvSpPr>
        <p:spPr>
          <a:xfrm>
            <a:off x="1108062" y="5750943"/>
            <a:ext cx="29329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dirty="0"/>
              <a:t>Direct Pick </a:t>
            </a:r>
            <a:r>
              <a:rPr lang="zh-CN" altLang="zh-CN" i="1" dirty="0"/>
              <a:t>(Rosenkrantz et al.)</a:t>
            </a:r>
            <a:r>
              <a:rPr lang="zh-CN" altLang="zh-CN" dirty="0"/>
              <a:t>：贪心/直接捡拾，忽视运动约束。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850E2D-3F69-5177-DCB0-965C0B35F5EF}"/>
              </a:ext>
            </a:extLst>
          </p:cNvPr>
          <p:cNvSpPr txBox="1"/>
          <p:nvPr/>
        </p:nvSpPr>
        <p:spPr>
          <a:xfrm>
            <a:off x="4809494" y="5753433"/>
            <a:ext cx="27962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dirty="0"/>
              <a:t>TSP 2-opt </a:t>
            </a:r>
            <a:r>
              <a:rPr lang="zh-CN" altLang="zh-CN" i="1" dirty="0"/>
              <a:t>(Croes et al.)</a:t>
            </a:r>
            <a:r>
              <a:rPr lang="zh-CN" altLang="zh-CN" dirty="0"/>
              <a:t>：传统旅行商路径优化，未考虑多约束融合。</a:t>
            </a:r>
          </a:p>
        </p:txBody>
      </p:sp>
      <p:pic>
        <p:nvPicPr>
          <p:cNvPr id="8" name="0eeb20e39350ff251f76e335dcc38728">
            <a:hlinkClick r:id="" action="ppaction://media"/>
            <a:extLst>
              <a:ext uri="{FF2B5EF4-FFF2-40B4-BE49-F238E27FC236}">
                <a16:creationId xmlns:a16="http://schemas.microsoft.com/office/drawing/2014/main" id="{3A1B6345-4630-6488-590F-1B3BD80C37DE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150956" y="2735837"/>
            <a:ext cx="3997576" cy="284412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4734E99-8314-761B-1F88-3DAEC1D25ED0}"/>
              </a:ext>
            </a:extLst>
          </p:cNvPr>
          <p:cNvSpPr txBox="1"/>
          <p:nvPr/>
        </p:nvSpPr>
        <p:spPr>
          <a:xfrm>
            <a:off x="8584899" y="5750943"/>
            <a:ext cx="27962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dirty="0"/>
              <a:t>KDD </a:t>
            </a:r>
            <a:r>
              <a:rPr lang="zh-CN" altLang="zh-CN" i="1" dirty="0"/>
              <a:t>(Ester et al.)</a:t>
            </a:r>
            <a:r>
              <a:rPr lang="zh-CN" altLang="zh-CN" dirty="0"/>
              <a:t>：基于聚类的路径规划，局限于局部优解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F3EC762-B782-CECE-3C25-8448E6591536}"/>
              </a:ext>
            </a:extLst>
          </p:cNvPr>
          <p:cNvSpPr txBox="1"/>
          <p:nvPr/>
        </p:nvSpPr>
        <p:spPr>
          <a:xfrm>
            <a:off x="336550" y="2333507"/>
            <a:ext cx="185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对比</a:t>
            </a:r>
            <a:r>
              <a:rPr lang="en-US" altLang="zh-CN" dirty="0"/>
              <a:t>baseline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0978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2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83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996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2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F2BD1-D098-DF6A-1419-A83E74EAE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4B2C2A9-AC15-95B5-A789-B7A8850CB492}"/>
              </a:ext>
            </a:extLst>
          </p:cNvPr>
          <p:cNvSpPr/>
          <p:nvPr/>
        </p:nvSpPr>
        <p:spPr>
          <a:xfrm>
            <a:off x="754888" y="1225144"/>
            <a:ext cx="9601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6B7280"/>
                </a:solidFill>
              </a:rPr>
              <a:t>高位视觉确定小车位姿，进行闭环导航</a:t>
            </a:r>
            <a:endParaRPr lang="en-US" altLang="zh-CN" sz="1600" b="1" dirty="0">
              <a:solidFill>
                <a:srgbClr val="6B7280"/>
              </a:solidFill>
            </a:endParaRPr>
          </a:p>
          <a:p>
            <a:pPr marL="0" indent="0">
              <a:buNone/>
            </a:pPr>
            <a:endParaRPr lang="en-US" altLang="zh-CN" sz="1600" b="1" dirty="0">
              <a:solidFill>
                <a:srgbClr val="6B7280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88BE2A5-CEB3-6817-0E11-01A50D20528E}"/>
              </a:ext>
            </a:extLst>
          </p:cNvPr>
          <p:cNvSpPr txBox="1"/>
          <p:nvPr/>
        </p:nvSpPr>
        <p:spPr>
          <a:xfrm>
            <a:off x="534444" y="551784"/>
            <a:ext cx="6232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 err="1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小车闭环导航</a:t>
            </a:r>
            <a:endParaRPr lang="zh-CN" altLang="en-US" sz="3200" b="1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7EFDE071-09A2-2668-7AE3-85A388620C14}"/>
              </a:ext>
            </a:extLst>
          </p:cNvPr>
          <p:cNvSpPr/>
          <p:nvPr/>
        </p:nvSpPr>
        <p:spPr>
          <a:xfrm>
            <a:off x="1815788" y="1928995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FFF7E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5F28362B-F6FB-C057-627F-42CD05DBA2F9}"/>
              </a:ext>
            </a:extLst>
          </p:cNvPr>
          <p:cNvSpPr/>
          <p:nvPr/>
        </p:nvSpPr>
        <p:spPr>
          <a:xfrm>
            <a:off x="1870652" y="2002147"/>
            <a:ext cx="12161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目标位姿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(xₜ,yₜ,θₜ)</a:t>
            </a:r>
            <a:endParaRPr lang="en-US" sz="85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0CC5FA54-2322-9269-A930-4D2CA331EC8A}"/>
              </a:ext>
            </a:extLst>
          </p:cNvPr>
          <p:cNvSpPr/>
          <p:nvPr/>
        </p:nvSpPr>
        <p:spPr>
          <a:xfrm>
            <a:off x="2499774" y="2741715"/>
            <a:ext cx="0" cy="688525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11BC7AE9-AD2C-35E0-D5A1-36D8595089AB}"/>
              </a:ext>
            </a:extLst>
          </p:cNvPr>
          <p:cNvSpPr/>
          <p:nvPr/>
        </p:nvSpPr>
        <p:spPr>
          <a:xfrm>
            <a:off x="757352" y="365065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66D405FC-B8E7-4078-2CE4-E40FF31C865E}"/>
              </a:ext>
            </a:extLst>
          </p:cNvPr>
          <p:cNvSpPr/>
          <p:nvPr/>
        </p:nvSpPr>
        <p:spPr>
          <a:xfrm>
            <a:off x="812216" y="3723802"/>
            <a:ext cx="12161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误差计算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eₓ,eᵧ,eθ</a:t>
            </a:r>
            <a:endParaRPr lang="en-US" sz="850" dirty="0"/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6BD70F04-3EFA-78A3-CB7C-D821F908B9CD}"/>
              </a:ext>
            </a:extLst>
          </p:cNvPr>
          <p:cNvSpPr/>
          <p:nvPr/>
        </p:nvSpPr>
        <p:spPr>
          <a:xfrm>
            <a:off x="2304404" y="3906682"/>
            <a:ext cx="64008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7317D50-5180-00F9-577C-959FAD2EB2FA}"/>
              </a:ext>
            </a:extLst>
          </p:cNvPr>
          <p:cNvGrpSpPr/>
          <p:nvPr/>
        </p:nvGrpSpPr>
        <p:grpSpPr>
          <a:xfrm>
            <a:off x="3192230" y="3650650"/>
            <a:ext cx="1325880" cy="502920"/>
            <a:chOff x="2842184" y="3650650"/>
            <a:chExt cx="1325880" cy="502920"/>
          </a:xfrm>
        </p:grpSpPr>
        <p:sp>
          <p:nvSpPr>
            <p:cNvPr id="34" name="Shape 9">
              <a:extLst>
                <a:ext uri="{FF2B5EF4-FFF2-40B4-BE49-F238E27FC236}">
                  <a16:creationId xmlns:a16="http://schemas.microsoft.com/office/drawing/2014/main" id="{28918462-9F88-2655-C3B9-42758CDF99A8}"/>
                </a:ext>
              </a:extLst>
            </p:cNvPr>
            <p:cNvSpPr/>
            <p:nvPr/>
          </p:nvSpPr>
          <p:spPr>
            <a:xfrm>
              <a:off x="2842184" y="3650650"/>
              <a:ext cx="1325880" cy="502920"/>
            </a:xfrm>
            <a:prstGeom prst="roundRect">
              <a:avLst>
                <a:gd name="adj" fmla="val 10909"/>
              </a:avLst>
            </a:prstGeom>
            <a:solidFill>
              <a:srgbClr val="EAF3FF"/>
            </a:solidFill>
            <a:ln w="12700">
              <a:solidFill>
                <a:srgbClr val="BBD9FF"/>
              </a:solidFill>
              <a:prstDash val="solid"/>
            </a:ln>
          </p:spPr>
        </p:sp>
        <p:sp>
          <p:nvSpPr>
            <p:cNvPr id="38" name="Text 10">
              <a:extLst>
                <a:ext uri="{FF2B5EF4-FFF2-40B4-BE49-F238E27FC236}">
                  <a16:creationId xmlns:a16="http://schemas.microsoft.com/office/drawing/2014/main" id="{3AEB17F3-361D-3366-8F20-FC44EB6B88D9}"/>
                </a:ext>
              </a:extLst>
            </p:cNvPr>
            <p:cNvSpPr/>
            <p:nvPr/>
          </p:nvSpPr>
          <p:spPr>
            <a:xfrm>
              <a:off x="2897048" y="3723802"/>
              <a:ext cx="1216152" cy="3566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1F2937"/>
                  </a:solidFill>
                </a:rPr>
                <a:t>P/PID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b="1" dirty="0">
                  <a:solidFill>
                    <a:srgbClr val="1F2937"/>
                  </a:solidFill>
                </a:rPr>
                <a:t>控制器</a:t>
              </a:r>
              <a:endParaRPr lang="en-US" sz="850" dirty="0"/>
            </a:p>
          </p:txBody>
        </p:sp>
      </p:grpSp>
      <p:sp>
        <p:nvSpPr>
          <p:cNvPr id="42" name="Shape 11">
            <a:extLst>
              <a:ext uri="{FF2B5EF4-FFF2-40B4-BE49-F238E27FC236}">
                <a16:creationId xmlns:a16="http://schemas.microsoft.com/office/drawing/2014/main" id="{EF2C5841-A440-83ED-79A4-7AD1FD95F026}"/>
              </a:ext>
            </a:extLst>
          </p:cNvPr>
          <p:cNvSpPr/>
          <p:nvPr/>
        </p:nvSpPr>
        <p:spPr>
          <a:xfrm flipH="1">
            <a:off x="3927846" y="4292765"/>
            <a:ext cx="0" cy="539489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5" name="Shape 12">
            <a:extLst>
              <a:ext uri="{FF2B5EF4-FFF2-40B4-BE49-F238E27FC236}">
                <a16:creationId xmlns:a16="http://schemas.microsoft.com/office/drawing/2014/main" id="{D2C270D2-8152-4487-F29C-FB550EE02ECC}"/>
              </a:ext>
            </a:extLst>
          </p:cNvPr>
          <p:cNvSpPr/>
          <p:nvPr/>
        </p:nvSpPr>
        <p:spPr>
          <a:xfrm>
            <a:off x="3187914" y="497145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EAFB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AC4C3D6C-F7DA-01D0-74E6-84B447DDFF9C}"/>
              </a:ext>
            </a:extLst>
          </p:cNvPr>
          <p:cNvSpPr/>
          <p:nvPr/>
        </p:nvSpPr>
        <p:spPr>
          <a:xfrm>
            <a:off x="3242778" y="5044602"/>
            <a:ext cx="12161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麦克纳姆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vx,vy,ω</a:t>
            </a:r>
            <a:endParaRPr lang="en-US" sz="850" dirty="0"/>
          </a:p>
        </p:txBody>
      </p:sp>
      <p:sp>
        <p:nvSpPr>
          <p:cNvPr id="54" name="Shape 14">
            <a:extLst>
              <a:ext uri="{FF2B5EF4-FFF2-40B4-BE49-F238E27FC236}">
                <a16:creationId xmlns:a16="http://schemas.microsoft.com/office/drawing/2014/main" id="{3A83350F-F93F-83DE-CAA8-7D6B7A0170D9}"/>
              </a:ext>
            </a:extLst>
          </p:cNvPr>
          <p:cNvSpPr/>
          <p:nvPr/>
        </p:nvSpPr>
        <p:spPr>
          <a:xfrm flipH="1">
            <a:off x="2328378" y="5214808"/>
            <a:ext cx="598424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69D713C8-5942-85E1-A646-C2882D002378}"/>
              </a:ext>
            </a:extLst>
          </p:cNvPr>
          <p:cNvGrpSpPr/>
          <p:nvPr/>
        </p:nvGrpSpPr>
        <p:grpSpPr>
          <a:xfrm>
            <a:off x="736306" y="4971450"/>
            <a:ext cx="1325880" cy="502920"/>
            <a:chOff x="8969248" y="2021866"/>
            <a:chExt cx="1325880" cy="502920"/>
          </a:xfrm>
        </p:grpSpPr>
        <p:sp>
          <p:nvSpPr>
            <p:cNvPr id="56" name="Shape 15">
              <a:extLst>
                <a:ext uri="{FF2B5EF4-FFF2-40B4-BE49-F238E27FC236}">
                  <a16:creationId xmlns:a16="http://schemas.microsoft.com/office/drawing/2014/main" id="{251F4B76-7FE2-F4F1-C949-ED7F3F3EADBC}"/>
                </a:ext>
              </a:extLst>
            </p:cNvPr>
            <p:cNvSpPr/>
            <p:nvPr/>
          </p:nvSpPr>
          <p:spPr>
            <a:xfrm>
              <a:off x="8969248" y="2021866"/>
              <a:ext cx="1325880" cy="502920"/>
            </a:xfrm>
            <a:prstGeom prst="roundRect">
              <a:avLst>
                <a:gd name="adj" fmla="val 10909"/>
              </a:avLst>
            </a:prstGeom>
            <a:solidFill>
              <a:srgbClr val="F8FAFC"/>
            </a:solidFill>
            <a:ln w="12700">
              <a:solidFill>
                <a:srgbClr val="D1D5DB"/>
              </a:solidFill>
              <a:prstDash val="solid"/>
            </a:ln>
          </p:spPr>
        </p:sp>
        <p:sp>
          <p:nvSpPr>
            <p:cNvPr id="58" name="Text 16">
              <a:extLst>
                <a:ext uri="{FF2B5EF4-FFF2-40B4-BE49-F238E27FC236}">
                  <a16:creationId xmlns:a16="http://schemas.microsoft.com/office/drawing/2014/main" id="{D3DC06BA-AD6A-7E97-AC89-8FBEE21CC320}"/>
                </a:ext>
              </a:extLst>
            </p:cNvPr>
            <p:cNvSpPr/>
            <p:nvPr/>
          </p:nvSpPr>
          <p:spPr>
            <a:xfrm>
              <a:off x="9024112" y="2095018"/>
              <a:ext cx="1216152" cy="3566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1F2937"/>
                  </a:solidFill>
                </a:rPr>
                <a:t>高位相机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b="1" dirty="0">
                  <a:solidFill>
                    <a:srgbClr val="1F2937"/>
                  </a:solidFill>
                </a:rPr>
                <a:t>重新观察</a:t>
              </a:r>
              <a:endParaRPr lang="en-US" sz="850" dirty="0"/>
            </a:p>
          </p:txBody>
        </p:sp>
      </p:grpSp>
      <p:pic>
        <p:nvPicPr>
          <p:cNvPr id="61" name="图片 60">
            <a:extLst>
              <a:ext uri="{FF2B5EF4-FFF2-40B4-BE49-F238E27FC236}">
                <a16:creationId xmlns:a16="http://schemas.microsoft.com/office/drawing/2014/main" id="{047F695C-465B-F567-62A0-172894E01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407" y="1225144"/>
            <a:ext cx="7603166" cy="4765117"/>
          </a:xfrm>
          <a:prstGeom prst="rect">
            <a:avLst/>
          </a:prstGeom>
        </p:spPr>
      </p:pic>
      <p:sp>
        <p:nvSpPr>
          <p:cNvPr id="65" name="Shape 8">
            <a:extLst>
              <a:ext uri="{FF2B5EF4-FFF2-40B4-BE49-F238E27FC236}">
                <a16:creationId xmlns:a16="http://schemas.microsoft.com/office/drawing/2014/main" id="{8CE95DCA-A07B-A081-F7B6-A896C8FF02A4}"/>
              </a:ext>
            </a:extLst>
          </p:cNvPr>
          <p:cNvSpPr/>
          <p:nvPr/>
        </p:nvSpPr>
        <p:spPr>
          <a:xfrm flipV="1">
            <a:off x="1363909" y="4235660"/>
            <a:ext cx="0" cy="539489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7" name="Text 17">
            <a:extLst>
              <a:ext uri="{FF2B5EF4-FFF2-40B4-BE49-F238E27FC236}">
                <a16:creationId xmlns:a16="http://schemas.microsoft.com/office/drawing/2014/main" id="{6E639C94-FB1D-B31F-94EE-F94C211B4C4F}"/>
              </a:ext>
            </a:extLst>
          </p:cNvPr>
          <p:cNvSpPr/>
          <p:nvPr/>
        </p:nvSpPr>
        <p:spPr>
          <a:xfrm>
            <a:off x="-1901836" y="5736433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B7280"/>
                </a:solidFill>
              </a:rPr>
              <a:t>反馈闭环：高位相机持续更新 robot pose，控制器每帧重算速度。</a:t>
            </a:r>
            <a:endParaRPr lang="en-US" sz="860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5A8F12D-58E3-DAEA-1ED3-BEDB60A2A532}"/>
              </a:ext>
            </a:extLst>
          </p:cNvPr>
          <p:cNvCxnSpPr>
            <a:cxnSpLocks/>
          </p:cNvCxnSpPr>
          <p:nvPr/>
        </p:nvCxnSpPr>
        <p:spPr>
          <a:xfrm flipH="1" flipV="1">
            <a:off x="5950744" y="2511260"/>
            <a:ext cx="1935956" cy="11393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C5700BF-ED35-6DB9-09D4-0888F7C07F66}"/>
              </a:ext>
            </a:extLst>
          </p:cNvPr>
          <p:cNvCxnSpPr>
            <a:cxnSpLocks/>
          </p:cNvCxnSpPr>
          <p:nvPr/>
        </p:nvCxnSpPr>
        <p:spPr>
          <a:xfrm flipH="1" flipV="1">
            <a:off x="5950744" y="3429000"/>
            <a:ext cx="1935956" cy="22907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6D01FF3D-39FE-74B6-4EAC-7997E774E2B5}"/>
              </a:ext>
            </a:extLst>
          </p:cNvPr>
          <p:cNvSpPr txBox="1"/>
          <p:nvPr/>
        </p:nvSpPr>
        <p:spPr>
          <a:xfrm>
            <a:off x="6108353" y="3543538"/>
            <a:ext cx="1935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Current Direction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92BA817-31A9-5699-A17B-B40333BD5AF3}"/>
              </a:ext>
            </a:extLst>
          </p:cNvPr>
          <p:cNvSpPr txBox="1"/>
          <p:nvPr/>
        </p:nvSpPr>
        <p:spPr>
          <a:xfrm>
            <a:off x="5214768" y="2753123"/>
            <a:ext cx="1935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Bias</a:t>
            </a:r>
            <a:endParaRPr lang="zh-CN" altLang="en-US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5BCB2F2-9B46-A20C-B26F-A7897A4098F4}"/>
              </a:ext>
            </a:extLst>
          </p:cNvPr>
          <p:cNvCxnSpPr>
            <a:cxnSpLocks/>
          </p:cNvCxnSpPr>
          <p:nvPr/>
        </p:nvCxnSpPr>
        <p:spPr>
          <a:xfrm flipH="1" flipV="1">
            <a:off x="5819292" y="2431915"/>
            <a:ext cx="109798" cy="9591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1C095503-8F34-FD44-6497-9F2D58C88C77}"/>
              </a:ext>
            </a:extLst>
          </p:cNvPr>
          <p:cNvSpPr txBox="1"/>
          <p:nvPr/>
        </p:nvSpPr>
        <p:spPr>
          <a:xfrm>
            <a:off x="6471144" y="2340494"/>
            <a:ext cx="1935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Desired Direction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9302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1D074-3743-00C1-445C-87FCA8DE4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839E64DF-D154-7FEE-450C-A9682BE6335E}"/>
              </a:ext>
            </a:extLst>
          </p:cNvPr>
          <p:cNvSpPr/>
          <p:nvPr/>
        </p:nvSpPr>
        <p:spPr>
          <a:xfrm>
            <a:off x="754888" y="1225144"/>
            <a:ext cx="9601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600" b="1" dirty="0">
                <a:solidFill>
                  <a:srgbClr val="6B7280"/>
                </a:solidFill>
              </a:rPr>
              <a:t>V</a:t>
            </a:r>
            <a:r>
              <a:rPr lang="zh-CN" altLang="en-US" sz="1600" b="1" dirty="0">
                <a:solidFill>
                  <a:srgbClr val="6B7280"/>
                </a:solidFill>
              </a:rPr>
              <a:t>型聚拢结构与特异夹爪结构设计</a:t>
            </a:r>
            <a:endParaRPr lang="en-US" altLang="zh-CN" sz="1600" b="1" dirty="0">
              <a:solidFill>
                <a:srgbClr val="6B7280"/>
              </a:solidFill>
            </a:endParaRPr>
          </a:p>
          <a:p>
            <a:pPr marL="0" indent="0">
              <a:buNone/>
            </a:pPr>
            <a:endParaRPr lang="en-US" altLang="zh-CN" sz="1600" b="1" dirty="0">
              <a:solidFill>
                <a:srgbClr val="6B7280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BD3DAD5-7C19-F3BA-9CCC-8E7D70DA22B9}"/>
              </a:ext>
            </a:extLst>
          </p:cNvPr>
          <p:cNvSpPr txBox="1"/>
          <p:nvPr/>
        </p:nvSpPr>
        <p:spPr>
          <a:xfrm>
            <a:off x="534444" y="551784"/>
            <a:ext cx="6232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结构设计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F7C8082-DA1D-BC52-8771-76D41FDA2362}"/>
              </a:ext>
            </a:extLst>
          </p:cNvPr>
          <p:cNvSpPr/>
          <p:nvPr/>
        </p:nvSpPr>
        <p:spPr>
          <a:xfrm>
            <a:off x="828040" y="17007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散落球</a:t>
            </a:r>
            <a:endParaRPr lang="en-US" sz="1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B308B2E-BEE9-49A8-B6E7-EB419732BE00}"/>
              </a:ext>
            </a:extLst>
          </p:cNvPr>
          <p:cNvSpPr/>
          <p:nvPr/>
        </p:nvSpPr>
        <p:spPr>
          <a:xfrm>
            <a:off x="1056640" y="2532888"/>
            <a:ext cx="201168" cy="201168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144EC11A-3DCA-CC6B-F482-66204ADA8C9A}"/>
              </a:ext>
            </a:extLst>
          </p:cNvPr>
          <p:cNvSpPr/>
          <p:nvPr/>
        </p:nvSpPr>
        <p:spPr>
          <a:xfrm>
            <a:off x="2016760" y="2350008"/>
            <a:ext cx="201168" cy="201168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467CB3AA-0F63-24FD-1164-A5AC2E760B2F}"/>
              </a:ext>
            </a:extLst>
          </p:cNvPr>
          <p:cNvSpPr/>
          <p:nvPr/>
        </p:nvSpPr>
        <p:spPr>
          <a:xfrm>
            <a:off x="1559560" y="3264408"/>
            <a:ext cx="201168" cy="201168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61DA1152-EF7D-8E97-CC3F-E95C3E6A3589}"/>
              </a:ext>
            </a:extLst>
          </p:cNvPr>
          <p:cNvSpPr/>
          <p:nvPr/>
        </p:nvSpPr>
        <p:spPr>
          <a:xfrm>
            <a:off x="2656840" y="2898648"/>
            <a:ext cx="100584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B88CD5B-E1BE-1A6E-F736-8D65A64B3F50}"/>
              </a:ext>
            </a:extLst>
          </p:cNvPr>
          <p:cNvSpPr/>
          <p:nvPr/>
        </p:nvSpPr>
        <p:spPr>
          <a:xfrm>
            <a:off x="2885440" y="2487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</a:rPr>
              <a:t>Sweep</a:t>
            </a:r>
            <a:endParaRPr lang="en-US" sz="800" dirty="0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6D9F7FF5-84F8-DFA2-8210-A7172C70F6C9}"/>
              </a:ext>
            </a:extLst>
          </p:cNvPr>
          <p:cNvSpPr/>
          <p:nvPr/>
        </p:nvSpPr>
        <p:spPr>
          <a:xfrm>
            <a:off x="4028440" y="3721608"/>
            <a:ext cx="132588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D7AA535C-7265-755A-368C-F741DDEFC54D}"/>
              </a:ext>
            </a:extLst>
          </p:cNvPr>
          <p:cNvSpPr/>
          <p:nvPr/>
        </p:nvSpPr>
        <p:spPr>
          <a:xfrm>
            <a:off x="6680200" y="3721608"/>
            <a:ext cx="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DEC8D481-5088-455C-B713-0841A5607FD6}"/>
              </a:ext>
            </a:extLst>
          </p:cNvPr>
          <p:cNvSpPr/>
          <p:nvPr/>
        </p:nvSpPr>
        <p:spPr>
          <a:xfrm>
            <a:off x="5025136" y="3602736"/>
            <a:ext cx="658368" cy="38404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C8F67B6C-B19F-07C3-BCCD-3D8E406673D8}"/>
              </a:ext>
            </a:extLst>
          </p:cNvPr>
          <p:cNvSpPr/>
          <p:nvPr/>
        </p:nvSpPr>
        <p:spPr>
          <a:xfrm>
            <a:off x="5098288" y="3712464"/>
            <a:ext cx="5029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小车</a:t>
            </a:r>
            <a:endParaRPr lang="en-US" sz="66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BC8CF096-CA52-D4C1-7C86-54134B6CB1E0}"/>
              </a:ext>
            </a:extLst>
          </p:cNvPr>
          <p:cNvSpPr/>
          <p:nvPr/>
        </p:nvSpPr>
        <p:spPr>
          <a:xfrm>
            <a:off x="4622800" y="2523744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E18590D8-6014-D6A5-D855-25A9B28EC579}"/>
              </a:ext>
            </a:extLst>
          </p:cNvPr>
          <p:cNvSpPr/>
          <p:nvPr/>
        </p:nvSpPr>
        <p:spPr>
          <a:xfrm>
            <a:off x="5308600" y="2350008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A4197CDD-D0E2-FB66-6595-6D6111B19958}"/>
              </a:ext>
            </a:extLst>
          </p:cNvPr>
          <p:cNvSpPr/>
          <p:nvPr/>
        </p:nvSpPr>
        <p:spPr>
          <a:xfrm>
            <a:off x="5829808" y="2560320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49AF0B51-AFE6-45DB-C4D0-8B21A7BEE9F8}"/>
              </a:ext>
            </a:extLst>
          </p:cNvPr>
          <p:cNvSpPr/>
          <p:nvPr/>
        </p:nvSpPr>
        <p:spPr>
          <a:xfrm>
            <a:off x="7137400" y="2898648"/>
            <a:ext cx="100584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CE54CE55-A06D-5D67-A522-31474D336EFD}"/>
              </a:ext>
            </a:extLst>
          </p:cNvPr>
          <p:cNvSpPr/>
          <p:nvPr/>
        </p:nvSpPr>
        <p:spPr>
          <a:xfrm>
            <a:off x="8600440" y="2359152"/>
            <a:ext cx="1417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B55361A3-10A0-F13E-DD82-C9FADA652C2D}"/>
              </a:ext>
            </a:extLst>
          </p:cNvPr>
          <p:cNvSpPr/>
          <p:nvPr/>
        </p:nvSpPr>
        <p:spPr>
          <a:xfrm>
            <a:off x="8719312" y="25146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</a:rPr>
              <a:t>Collection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</a:rPr>
              <a:t>Zone</a:t>
            </a:r>
            <a:endParaRPr lang="en-US" sz="850" dirty="0"/>
          </a:p>
        </p:txBody>
      </p:sp>
      <p:sp>
        <p:nvSpPr>
          <p:cNvPr id="46" name="Shape 19">
            <a:extLst>
              <a:ext uri="{FF2B5EF4-FFF2-40B4-BE49-F238E27FC236}">
                <a16:creationId xmlns:a16="http://schemas.microsoft.com/office/drawing/2014/main" id="{CCF5E02E-F891-3C43-AFD8-A9500DE03B70}"/>
              </a:ext>
            </a:extLst>
          </p:cNvPr>
          <p:cNvSpPr/>
          <p:nvPr/>
        </p:nvSpPr>
        <p:spPr>
          <a:xfrm>
            <a:off x="8874760" y="2852928"/>
            <a:ext cx="146304" cy="146304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49" name="Shape 20">
            <a:extLst>
              <a:ext uri="{FF2B5EF4-FFF2-40B4-BE49-F238E27FC236}">
                <a16:creationId xmlns:a16="http://schemas.microsoft.com/office/drawing/2014/main" id="{1B24162F-7B09-FCB4-CC7C-D534DE211A7A}"/>
              </a:ext>
            </a:extLst>
          </p:cNvPr>
          <p:cNvSpPr/>
          <p:nvPr/>
        </p:nvSpPr>
        <p:spPr>
          <a:xfrm>
            <a:off x="9176512" y="2871216"/>
            <a:ext cx="146304" cy="146304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52" name="Shape 21">
            <a:extLst>
              <a:ext uri="{FF2B5EF4-FFF2-40B4-BE49-F238E27FC236}">
                <a16:creationId xmlns:a16="http://schemas.microsoft.com/office/drawing/2014/main" id="{4B45D9B0-EB00-55C7-62F1-14695FF11F20}"/>
              </a:ext>
            </a:extLst>
          </p:cNvPr>
          <p:cNvSpPr/>
          <p:nvPr/>
        </p:nvSpPr>
        <p:spPr>
          <a:xfrm>
            <a:off x="9030208" y="3035808"/>
            <a:ext cx="146304" cy="146304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55" name="Text 1">
            <a:extLst>
              <a:ext uri="{FF2B5EF4-FFF2-40B4-BE49-F238E27FC236}">
                <a16:creationId xmlns:a16="http://schemas.microsoft.com/office/drawing/2014/main" id="{02DDEC8A-B440-87E1-0627-3C7319FEBEB2}"/>
              </a:ext>
            </a:extLst>
          </p:cNvPr>
          <p:cNvSpPr/>
          <p:nvPr/>
        </p:nvSpPr>
        <p:spPr>
          <a:xfrm>
            <a:off x="882904" y="4632603"/>
            <a:ext cx="9601200" cy="59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6B7280"/>
                </a:solidFill>
              </a:rPr>
              <a:t>特异夹爪结构设计</a:t>
            </a:r>
            <a:endParaRPr lang="en-US" altLang="zh-CN" sz="1600" b="1" dirty="0">
              <a:solidFill>
                <a:srgbClr val="6B7280"/>
              </a:solidFill>
            </a:endParaRPr>
          </a:p>
          <a:p>
            <a:pPr marL="0" indent="0">
              <a:buNone/>
            </a:pPr>
            <a:endParaRPr lang="en-US" altLang="zh-CN" sz="1600" b="1" dirty="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3762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1F5F3-12FC-A045-C98D-5061A41AF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707D883-FFC9-96E5-48D6-D271CB55E209}"/>
              </a:ext>
            </a:extLst>
          </p:cNvPr>
          <p:cNvSpPr/>
          <p:nvPr/>
        </p:nvSpPr>
        <p:spPr>
          <a:xfrm>
            <a:off x="754888" y="1225144"/>
            <a:ext cx="9601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600" b="1" dirty="0">
                <a:solidFill>
                  <a:srgbClr val="6B7280"/>
                </a:solidFill>
              </a:rPr>
              <a:t>RGBD + </a:t>
            </a:r>
            <a:r>
              <a:rPr lang="en-US" altLang="zh-CN" sz="1600" b="1" dirty="0" err="1">
                <a:solidFill>
                  <a:srgbClr val="6B7280"/>
                </a:solidFill>
              </a:rPr>
              <a:t>Dobot</a:t>
            </a:r>
            <a:r>
              <a:rPr lang="en-US" altLang="zh-CN" sz="1600" b="1" dirty="0">
                <a:solidFill>
                  <a:srgbClr val="6B7280"/>
                </a:solidFill>
              </a:rPr>
              <a:t> 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854E570-303B-29C5-D0C2-91443A47DB8C}"/>
              </a:ext>
            </a:extLst>
          </p:cNvPr>
          <p:cNvSpPr txBox="1"/>
          <p:nvPr/>
        </p:nvSpPr>
        <p:spPr>
          <a:xfrm>
            <a:off x="534444" y="551784"/>
            <a:ext cx="6232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机械臂抓取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DC886AB-2743-755D-3F0E-8DC4B4EFE9B1}"/>
              </a:ext>
            </a:extLst>
          </p:cNvPr>
          <p:cNvSpPr/>
          <p:nvPr/>
        </p:nvSpPr>
        <p:spPr>
          <a:xfrm>
            <a:off x="828040" y="17007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散落球</a:t>
            </a:r>
            <a:endParaRPr lang="en-US" sz="10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0B3C9F59-0DFE-BC28-1495-8778AFFAE9DC}"/>
              </a:ext>
            </a:extLst>
          </p:cNvPr>
          <p:cNvSpPr/>
          <p:nvPr/>
        </p:nvSpPr>
        <p:spPr>
          <a:xfrm>
            <a:off x="1341120" y="1975612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EE2E2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93276FB8-F16B-BEF6-8D59-7FD4617E1E86}"/>
              </a:ext>
            </a:extLst>
          </p:cNvPr>
          <p:cNvSpPr/>
          <p:nvPr/>
        </p:nvSpPr>
        <p:spPr>
          <a:xfrm>
            <a:off x="1341120" y="1975612"/>
            <a:ext cx="73152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203D6204-D358-73EF-4AC1-8BC2FE187CE9}"/>
              </a:ext>
            </a:extLst>
          </p:cNvPr>
          <p:cNvSpPr/>
          <p:nvPr/>
        </p:nvSpPr>
        <p:spPr>
          <a:xfrm>
            <a:off x="1505712" y="2103628"/>
            <a:ext cx="3017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局部 RGBD 需求</a:t>
            </a:r>
            <a:endParaRPr lang="en-US" sz="11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87877C1-B7B7-2945-60C1-310E782C3354}"/>
              </a:ext>
            </a:extLst>
          </p:cNvPr>
          <p:cNvSpPr/>
          <p:nvPr/>
        </p:nvSpPr>
        <p:spPr>
          <a:xfrm>
            <a:off x="1505712" y="2414524"/>
            <a:ext cx="302666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工作范围：约 5–40 cm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重点关注最近有效深度距离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RGB/Depth 对齐，Python/C++ SDK</a:t>
            </a:r>
            <a:endParaRPr lang="en-US" sz="82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F25B8A1-35D6-8C6D-AC99-970301AE994A}"/>
              </a:ext>
            </a:extLst>
          </p:cNvPr>
          <p:cNvSpPr/>
          <p:nvPr/>
        </p:nvSpPr>
        <p:spPr>
          <a:xfrm>
            <a:off x="1341120" y="3420364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EAF3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179C103-9E35-0E5A-35B4-6E63C521DBC7}"/>
              </a:ext>
            </a:extLst>
          </p:cNvPr>
          <p:cNvSpPr/>
          <p:nvPr/>
        </p:nvSpPr>
        <p:spPr>
          <a:xfrm>
            <a:off x="1341120" y="3420364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615FE22-A304-DA98-0AE5-77F02204395A}"/>
              </a:ext>
            </a:extLst>
          </p:cNvPr>
          <p:cNvSpPr/>
          <p:nvPr/>
        </p:nvSpPr>
        <p:spPr>
          <a:xfrm>
            <a:off x="1505712" y="3548380"/>
            <a:ext cx="3017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坐标转换</a:t>
            </a:r>
            <a:endParaRPr lang="en-US" sz="115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CAF42F27-371A-5501-3A84-F10FE3AC1E70}"/>
              </a:ext>
            </a:extLst>
          </p:cNvPr>
          <p:cNvSpPr/>
          <p:nvPr/>
        </p:nvSpPr>
        <p:spPr>
          <a:xfrm>
            <a:off x="1505712" y="3859276"/>
            <a:ext cx="302666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ball in rgbd_link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标定 T_arm_rgbd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得到 ball in arm_base</a:t>
            </a:r>
            <a:endParaRPr lang="en-US" sz="82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BE23155C-902E-F677-E255-8894FA5C4DA8}"/>
              </a:ext>
            </a:extLst>
          </p:cNvPr>
          <p:cNvSpPr/>
          <p:nvPr/>
        </p:nvSpPr>
        <p:spPr>
          <a:xfrm>
            <a:off x="1341120" y="4865116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EAFBF4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50EB1F8B-6876-7660-DFBC-74413D1C2BC9}"/>
              </a:ext>
            </a:extLst>
          </p:cNvPr>
          <p:cNvSpPr/>
          <p:nvPr/>
        </p:nvSpPr>
        <p:spPr>
          <a:xfrm>
            <a:off x="1341120" y="4865116"/>
            <a:ext cx="73152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A1EDB47C-7454-6B51-02AE-6AF6CC42A750}"/>
              </a:ext>
            </a:extLst>
          </p:cNvPr>
          <p:cNvSpPr/>
          <p:nvPr/>
        </p:nvSpPr>
        <p:spPr>
          <a:xfrm>
            <a:off x="1505712" y="4993132"/>
            <a:ext cx="3017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机械臂动作</a:t>
            </a:r>
            <a:endParaRPr lang="en-US" sz="115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1BD8E2FC-5FD2-1E19-E5CE-F2AD335C1F7C}"/>
              </a:ext>
            </a:extLst>
          </p:cNvPr>
          <p:cNvSpPr/>
          <p:nvPr/>
        </p:nvSpPr>
        <p:spPr>
          <a:xfrm>
            <a:off x="1505712" y="5304028"/>
            <a:ext cx="302666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Pregrasp → Approach → Close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Lift → MoveToBag → Release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球袋固定，不再视觉定位</a:t>
            </a:r>
            <a:endParaRPr lang="en-US" sz="820" dirty="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4BDD9501-D8A7-61C9-E534-755541E60FB8}"/>
              </a:ext>
            </a:extLst>
          </p:cNvPr>
          <p:cNvSpPr/>
          <p:nvPr/>
        </p:nvSpPr>
        <p:spPr>
          <a:xfrm>
            <a:off x="5318760" y="2185924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D253B6A5-449A-5DFF-2CB9-792B0E599FCE}"/>
              </a:ext>
            </a:extLst>
          </p:cNvPr>
          <p:cNvSpPr/>
          <p:nvPr/>
        </p:nvSpPr>
        <p:spPr>
          <a:xfrm>
            <a:off x="5373624" y="2259076"/>
            <a:ext cx="1124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Collection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Zone</a:t>
            </a:r>
            <a:endParaRPr lang="en-US" sz="850" dirty="0"/>
          </a:p>
        </p:txBody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FC53B7E6-00FA-42D5-F50C-F32A9A2501AE}"/>
              </a:ext>
            </a:extLst>
          </p:cNvPr>
          <p:cNvSpPr/>
          <p:nvPr/>
        </p:nvSpPr>
        <p:spPr>
          <a:xfrm>
            <a:off x="6617208" y="2441956"/>
            <a:ext cx="621792" cy="0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5559A78A-0CE8-7E30-1AC9-11EC684CD053}"/>
              </a:ext>
            </a:extLst>
          </p:cNvPr>
          <p:cNvSpPr/>
          <p:nvPr/>
        </p:nvSpPr>
        <p:spPr>
          <a:xfrm>
            <a:off x="7284720" y="2185924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84493830-5A20-9514-E27A-4AA3089C52D3}"/>
              </a:ext>
            </a:extLst>
          </p:cNvPr>
          <p:cNvSpPr/>
          <p:nvPr/>
        </p:nvSpPr>
        <p:spPr>
          <a:xfrm>
            <a:off x="7339584" y="2259076"/>
            <a:ext cx="1124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RGBD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5–40 cm</a:t>
            </a:r>
            <a:endParaRPr lang="en-US" sz="850" dirty="0"/>
          </a:p>
        </p:txBody>
      </p:sp>
      <p:sp>
        <p:nvSpPr>
          <p:cNvPr id="31" name="Shape 20">
            <a:extLst>
              <a:ext uri="{FF2B5EF4-FFF2-40B4-BE49-F238E27FC236}">
                <a16:creationId xmlns:a16="http://schemas.microsoft.com/office/drawing/2014/main" id="{CD1D0B1D-BB8E-BB9D-EB0B-6A32735DFC1C}"/>
              </a:ext>
            </a:extLst>
          </p:cNvPr>
          <p:cNvSpPr/>
          <p:nvPr/>
        </p:nvSpPr>
        <p:spPr>
          <a:xfrm>
            <a:off x="8583168" y="2441956"/>
            <a:ext cx="621792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1">
            <a:extLst>
              <a:ext uri="{FF2B5EF4-FFF2-40B4-BE49-F238E27FC236}">
                <a16:creationId xmlns:a16="http://schemas.microsoft.com/office/drawing/2014/main" id="{7B8B9B78-4679-D494-589A-5057758412F5}"/>
              </a:ext>
            </a:extLst>
          </p:cNvPr>
          <p:cNvSpPr/>
          <p:nvPr/>
        </p:nvSpPr>
        <p:spPr>
          <a:xfrm>
            <a:off x="9250680" y="2185924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EAF3FF"/>
          </a:solidFill>
          <a:ln w="12700">
            <a:solidFill>
              <a:srgbClr val="BBD9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BAAFE168-63FE-BB5A-D131-EA5E8351F100}"/>
              </a:ext>
            </a:extLst>
          </p:cNvPr>
          <p:cNvSpPr/>
          <p:nvPr/>
        </p:nvSpPr>
        <p:spPr>
          <a:xfrm>
            <a:off x="9305544" y="2259076"/>
            <a:ext cx="1124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arm_base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XYZ</a:t>
            </a:r>
            <a:endParaRPr lang="en-US" sz="850" dirty="0"/>
          </a:p>
        </p:txBody>
      </p:sp>
      <p:sp>
        <p:nvSpPr>
          <p:cNvPr id="36" name="Shape 23">
            <a:extLst>
              <a:ext uri="{FF2B5EF4-FFF2-40B4-BE49-F238E27FC236}">
                <a16:creationId xmlns:a16="http://schemas.microsoft.com/office/drawing/2014/main" id="{F24ADA8C-8049-4F0D-C140-4E9E92ADD229}"/>
              </a:ext>
            </a:extLst>
          </p:cNvPr>
          <p:cNvSpPr/>
          <p:nvPr/>
        </p:nvSpPr>
        <p:spPr>
          <a:xfrm>
            <a:off x="9872472" y="2734564"/>
            <a:ext cx="0" cy="64008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24">
            <a:extLst>
              <a:ext uri="{FF2B5EF4-FFF2-40B4-BE49-F238E27FC236}">
                <a16:creationId xmlns:a16="http://schemas.microsoft.com/office/drawing/2014/main" id="{729858D1-813C-5AAD-6EED-F05E21B0635F}"/>
              </a:ext>
            </a:extLst>
          </p:cNvPr>
          <p:cNvSpPr/>
          <p:nvPr/>
        </p:nvSpPr>
        <p:spPr>
          <a:xfrm>
            <a:off x="9250680" y="3420364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EAFBF4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D6FFF431-F730-00F7-9B45-2C9B2B21D4C5}"/>
              </a:ext>
            </a:extLst>
          </p:cNvPr>
          <p:cNvSpPr/>
          <p:nvPr/>
        </p:nvSpPr>
        <p:spPr>
          <a:xfrm>
            <a:off x="9305544" y="3493516"/>
            <a:ext cx="1124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机械臂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抓球</a:t>
            </a:r>
            <a:endParaRPr lang="en-US" sz="850" dirty="0"/>
          </a:p>
        </p:txBody>
      </p:sp>
      <p:sp>
        <p:nvSpPr>
          <p:cNvPr id="41" name="Shape 26">
            <a:extLst>
              <a:ext uri="{FF2B5EF4-FFF2-40B4-BE49-F238E27FC236}">
                <a16:creationId xmlns:a16="http://schemas.microsoft.com/office/drawing/2014/main" id="{29B6A66C-6D4F-8E52-95EF-87CD10E6DED6}"/>
              </a:ext>
            </a:extLst>
          </p:cNvPr>
          <p:cNvSpPr/>
          <p:nvPr/>
        </p:nvSpPr>
        <p:spPr>
          <a:xfrm>
            <a:off x="9872472" y="3969004"/>
            <a:ext cx="0" cy="64008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27">
            <a:extLst>
              <a:ext uri="{FF2B5EF4-FFF2-40B4-BE49-F238E27FC236}">
                <a16:creationId xmlns:a16="http://schemas.microsoft.com/office/drawing/2014/main" id="{979EA8AC-9678-A57D-EB13-57A351AD77F6}"/>
              </a:ext>
            </a:extLst>
          </p:cNvPr>
          <p:cNvSpPr/>
          <p:nvPr/>
        </p:nvSpPr>
        <p:spPr>
          <a:xfrm>
            <a:off x="9250680" y="4654804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FF7E6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8864EE98-71D1-815B-C365-F76CC8AB9B0A}"/>
              </a:ext>
            </a:extLst>
          </p:cNvPr>
          <p:cNvSpPr/>
          <p:nvPr/>
        </p:nvSpPr>
        <p:spPr>
          <a:xfrm>
            <a:off x="9305544" y="4727956"/>
            <a:ext cx="1124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后方球袋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固定点</a:t>
            </a:r>
            <a:endParaRPr lang="en-US" sz="850" dirty="0"/>
          </a:p>
        </p:txBody>
      </p:sp>
      <p:sp>
        <p:nvSpPr>
          <p:cNvPr id="45" name="Text 29">
            <a:extLst>
              <a:ext uri="{FF2B5EF4-FFF2-40B4-BE49-F238E27FC236}">
                <a16:creationId xmlns:a16="http://schemas.microsoft.com/office/drawing/2014/main" id="{C22ED354-ADE4-3A44-AF45-46E62C80AE05}"/>
              </a:ext>
            </a:extLst>
          </p:cNvPr>
          <p:cNvSpPr/>
          <p:nvPr/>
        </p:nvSpPr>
        <p:spPr>
          <a:xfrm>
            <a:off x="5364480" y="5944108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60" b="1" dirty="0">
                <a:solidFill>
                  <a:srgbClr val="1F2937"/>
                </a:solidFill>
              </a:rPr>
              <a:t>风险提示：常见 RGBD 的最小深度距离可能 ≥15 cm；采购时必须核实“5–10 cm 是否有有效深度图”。</a:t>
            </a:r>
            <a:endParaRPr lang="en-US" sz="860" dirty="0"/>
          </a:p>
        </p:txBody>
      </p:sp>
    </p:spTree>
    <p:extLst>
      <p:ext uri="{BB962C8B-B14F-4D97-AF65-F5344CB8AC3E}">
        <p14:creationId xmlns:p14="http://schemas.microsoft.com/office/powerpoint/2010/main" val="3782254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2024E-99A8-9A97-E954-9042ADAE7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6250F9D-38C1-5E3F-39C0-981B585914C8}"/>
              </a:ext>
            </a:extLst>
          </p:cNvPr>
          <p:cNvSpPr/>
          <p:nvPr/>
        </p:nvSpPr>
        <p:spPr>
          <a:xfrm>
            <a:off x="754888" y="1225144"/>
            <a:ext cx="9601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600" b="1" dirty="0">
                <a:solidFill>
                  <a:srgbClr val="6B7280"/>
                </a:solidFill>
              </a:rPr>
              <a:t>RGBD + </a:t>
            </a:r>
            <a:r>
              <a:rPr lang="en-US" altLang="zh-CN" sz="1600" b="1" dirty="0" err="1">
                <a:solidFill>
                  <a:srgbClr val="6B7280"/>
                </a:solidFill>
              </a:rPr>
              <a:t>Dobot</a:t>
            </a:r>
            <a:r>
              <a:rPr lang="en-US" altLang="zh-CN" sz="1600" b="1" dirty="0">
                <a:solidFill>
                  <a:srgbClr val="6B7280"/>
                </a:solidFill>
              </a:rPr>
              <a:t> 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2CEE0DF-6FE9-C45F-8F38-77CFFBABFB90}"/>
              </a:ext>
            </a:extLst>
          </p:cNvPr>
          <p:cNvSpPr txBox="1"/>
          <p:nvPr/>
        </p:nvSpPr>
        <p:spPr>
          <a:xfrm>
            <a:off x="534444" y="551784"/>
            <a:ext cx="6232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机械臂抓取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AE08ADF-CDAE-4CC0-FC86-65FC10BB0747}"/>
              </a:ext>
            </a:extLst>
          </p:cNvPr>
          <p:cNvSpPr/>
          <p:nvPr/>
        </p:nvSpPr>
        <p:spPr>
          <a:xfrm>
            <a:off x="828040" y="17007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散落球</a:t>
            </a:r>
            <a:endParaRPr lang="en-US" sz="10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B839BBAE-2919-35DB-3365-97D674A9DFFD}"/>
              </a:ext>
            </a:extLst>
          </p:cNvPr>
          <p:cNvSpPr/>
          <p:nvPr/>
        </p:nvSpPr>
        <p:spPr>
          <a:xfrm>
            <a:off x="1341120" y="1975612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EE2E2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1BE8152-644E-F1D2-7553-6D080FCF961B}"/>
              </a:ext>
            </a:extLst>
          </p:cNvPr>
          <p:cNvSpPr/>
          <p:nvPr/>
        </p:nvSpPr>
        <p:spPr>
          <a:xfrm>
            <a:off x="1341120" y="1975612"/>
            <a:ext cx="73152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E21378B8-4B00-93BC-6D01-64DB6BA0FCE8}"/>
              </a:ext>
            </a:extLst>
          </p:cNvPr>
          <p:cNvSpPr/>
          <p:nvPr/>
        </p:nvSpPr>
        <p:spPr>
          <a:xfrm>
            <a:off x="1505712" y="2103628"/>
            <a:ext cx="3017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局部 RGBD 需求</a:t>
            </a:r>
            <a:endParaRPr lang="en-US" sz="11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356B68E-C064-0608-CB91-0FD0317B7499}"/>
              </a:ext>
            </a:extLst>
          </p:cNvPr>
          <p:cNvSpPr/>
          <p:nvPr/>
        </p:nvSpPr>
        <p:spPr>
          <a:xfrm>
            <a:off x="1505712" y="2414524"/>
            <a:ext cx="302666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工作范围：约 5–40 cm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重点关注最近有效深度距离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RGB/Depth 对齐，Python/C++ SDK</a:t>
            </a:r>
            <a:endParaRPr lang="en-US" sz="82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15793C1-4BFD-5789-F90A-767F9A32FA05}"/>
              </a:ext>
            </a:extLst>
          </p:cNvPr>
          <p:cNvSpPr/>
          <p:nvPr/>
        </p:nvSpPr>
        <p:spPr>
          <a:xfrm>
            <a:off x="1341120" y="3420364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EAF3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7954BD4-3A96-89DE-5040-79F37BC596CD}"/>
              </a:ext>
            </a:extLst>
          </p:cNvPr>
          <p:cNvSpPr/>
          <p:nvPr/>
        </p:nvSpPr>
        <p:spPr>
          <a:xfrm>
            <a:off x="1341120" y="3420364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3D1E814-B5EB-768D-B650-378432C35CED}"/>
              </a:ext>
            </a:extLst>
          </p:cNvPr>
          <p:cNvSpPr/>
          <p:nvPr/>
        </p:nvSpPr>
        <p:spPr>
          <a:xfrm>
            <a:off x="1505712" y="3548380"/>
            <a:ext cx="3017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坐标转换</a:t>
            </a:r>
            <a:endParaRPr lang="en-US" sz="115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7048B191-824A-618F-AB2A-A44D42C046A0}"/>
              </a:ext>
            </a:extLst>
          </p:cNvPr>
          <p:cNvSpPr/>
          <p:nvPr/>
        </p:nvSpPr>
        <p:spPr>
          <a:xfrm>
            <a:off x="1505712" y="3859276"/>
            <a:ext cx="302666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ball in rgbd_link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标定 T_arm_rgbd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得到 ball in arm_base</a:t>
            </a:r>
            <a:endParaRPr lang="en-US" sz="82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6AD204FD-4148-D5FD-AC8F-BE0FFB805F97}"/>
              </a:ext>
            </a:extLst>
          </p:cNvPr>
          <p:cNvSpPr/>
          <p:nvPr/>
        </p:nvSpPr>
        <p:spPr>
          <a:xfrm>
            <a:off x="1341120" y="4865116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EAFBF4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3F4C9F3A-6D9B-6AEA-FF65-BE0DBEBD67F7}"/>
              </a:ext>
            </a:extLst>
          </p:cNvPr>
          <p:cNvSpPr/>
          <p:nvPr/>
        </p:nvSpPr>
        <p:spPr>
          <a:xfrm>
            <a:off x="1341120" y="4865116"/>
            <a:ext cx="73152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51FC5013-2802-EE78-0447-CE0E919105D9}"/>
              </a:ext>
            </a:extLst>
          </p:cNvPr>
          <p:cNvSpPr/>
          <p:nvPr/>
        </p:nvSpPr>
        <p:spPr>
          <a:xfrm>
            <a:off x="1505712" y="4993132"/>
            <a:ext cx="3017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机械臂动作</a:t>
            </a:r>
            <a:endParaRPr lang="en-US" sz="115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52ACFF58-72D1-D738-AEA3-F0D71FFE4A8D}"/>
              </a:ext>
            </a:extLst>
          </p:cNvPr>
          <p:cNvSpPr/>
          <p:nvPr/>
        </p:nvSpPr>
        <p:spPr>
          <a:xfrm>
            <a:off x="1505712" y="5304028"/>
            <a:ext cx="302666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Pregrasp → Approach → Close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Lift → MoveToBag → Release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球袋固定，不再视觉定位</a:t>
            </a:r>
            <a:endParaRPr lang="en-US" sz="820" dirty="0"/>
          </a:p>
        </p:txBody>
      </p:sp>
      <p:sp>
        <p:nvSpPr>
          <p:cNvPr id="45" name="Text 29">
            <a:extLst>
              <a:ext uri="{FF2B5EF4-FFF2-40B4-BE49-F238E27FC236}">
                <a16:creationId xmlns:a16="http://schemas.microsoft.com/office/drawing/2014/main" id="{C5739334-177E-44E9-7ED9-53B185D14EB9}"/>
              </a:ext>
            </a:extLst>
          </p:cNvPr>
          <p:cNvSpPr/>
          <p:nvPr/>
        </p:nvSpPr>
        <p:spPr>
          <a:xfrm>
            <a:off x="5364480" y="5944108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60" b="1" dirty="0">
                <a:solidFill>
                  <a:srgbClr val="1F2937"/>
                </a:solidFill>
              </a:rPr>
              <a:t>风险提示：常见 RGBD 的最小深度距离可能 ≥15 cm；采购时必须核实“5–10 cm 是否有有效深度图”。</a:t>
            </a:r>
            <a:endParaRPr lang="en-US" sz="860" dirty="0"/>
          </a:p>
        </p:txBody>
      </p:sp>
    </p:spTree>
    <p:extLst>
      <p:ext uri="{BB962C8B-B14F-4D97-AF65-F5344CB8AC3E}">
        <p14:creationId xmlns:p14="http://schemas.microsoft.com/office/powerpoint/2010/main" val="3185634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2B593-57D4-720E-1C41-0934350AE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46">
            <a:extLst>
              <a:ext uri="{FF2B5EF4-FFF2-40B4-BE49-F238E27FC236}">
                <a16:creationId xmlns:a16="http://schemas.microsoft.com/office/drawing/2014/main" id="{8B08D445-C547-AFF1-2D98-D371960A28B6}"/>
              </a:ext>
            </a:extLst>
          </p:cNvPr>
          <p:cNvSpPr txBox="1"/>
          <p:nvPr/>
        </p:nvSpPr>
        <p:spPr>
          <a:xfrm>
            <a:off x="534444" y="551784"/>
            <a:ext cx="6232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硬件购置与安装</a:t>
            </a:r>
          </a:p>
        </p:txBody>
      </p:sp>
      <p:pic>
        <p:nvPicPr>
          <p:cNvPr id="10" name="图片 9" descr="屏幕截图 2026-09-01 105343">
            <a:extLst>
              <a:ext uri="{FF2B5EF4-FFF2-40B4-BE49-F238E27FC236}">
                <a16:creationId xmlns:a16="http://schemas.microsoft.com/office/drawing/2014/main" id="{0BD8B6BE-9E1C-48E8-DDDD-A882776B8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81" y="1233805"/>
            <a:ext cx="8116570" cy="532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042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08345-7954-4B48-D486-1E2949A37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46">
            <a:extLst>
              <a:ext uri="{FF2B5EF4-FFF2-40B4-BE49-F238E27FC236}">
                <a16:creationId xmlns:a16="http://schemas.microsoft.com/office/drawing/2014/main" id="{3C60DA7D-DB7F-C8AB-E967-AE454BFBEC17}"/>
              </a:ext>
            </a:extLst>
          </p:cNvPr>
          <p:cNvSpPr txBox="1"/>
          <p:nvPr/>
        </p:nvSpPr>
        <p:spPr>
          <a:xfrm>
            <a:off x="534444" y="551784"/>
            <a:ext cx="6232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Demo</a:t>
            </a:r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验收与真实场景扩展</a:t>
            </a: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160EEBFD-3478-6FD4-DEDD-9950CF735935}"/>
              </a:ext>
            </a:extLst>
          </p:cNvPr>
          <p:cNvSpPr/>
          <p:nvPr/>
        </p:nvSpPr>
        <p:spPr>
          <a:xfrm>
            <a:off x="746760" y="1545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3×5 m Demo</a:t>
            </a:r>
            <a:endParaRPr lang="en-US" sz="14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DCE7A5F3-B309-29E4-4FBC-D8314F11D4AB}"/>
              </a:ext>
            </a:extLst>
          </p:cNvPr>
          <p:cNvSpPr/>
          <p:nvPr/>
        </p:nvSpPr>
        <p:spPr>
          <a:xfrm>
            <a:off x="746760" y="1975104"/>
            <a:ext cx="3017520" cy="2403856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9FABD05F-18BB-73C6-0406-AA3AE4F4A79D}"/>
              </a:ext>
            </a:extLst>
          </p:cNvPr>
          <p:cNvSpPr/>
          <p:nvPr/>
        </p:nvSpPr>
        <p:spPr>
          <a:xfrm>
            <a:off x="746760" y="1975104"/>
            <a:ext cx="73152" cy="3337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16EBC74A-2266-E1C2-6605-2E4A5A4A73C4}"/>
              </a:ext>
            </a:extLst>
          </p:cNvPr>
          <p:cNvSpPr/>
          <p:nvPr/>
        </p:nvSpPr>
        <p:spPr>
          <a:xfrm>
            <a:off x="911352" y="2103120"/>
            <a:ext cx="26974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阶段验收</a:t>
            </a:r>
            <a:endParaRPr lang="en-US" sz="115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1662D7B0-4430-0758-C956-DD1E8E51F76A}"/>
              </a:ext>
            </a:extLst>
          </p:cNvPr>
          <p:cNvSpPr/>
          <p:nvPr/>
        </p:nvSpPr>
        <p:spPr>
          <a:xfrm>
            <a:off x="911352" y="2414016"/>
            <a:ext cx="2706624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</a:rPr>
              <a:t>1. 高位相机检测 ≥10 个球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</a:rPr>
              <a:t>2. AprilTag 输出小车 (x,y,θ)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</a:rPr>
              <a:t>3. goto_pose 视觉闭环导航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</a:rPr>
              <a:t>4. V 型机构聚拢 2–4 个球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</a:rPr>
              <a:t>5. 近距离 RGBD + 机械臂抓取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</a:rPr>
              <a:t>6. 复扫、重规划、返回 Home</a:t>
            </a:r>
            <a:endParaRPr lang="en-US" sz="760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9B6CC473-6C71-519E-7B69-AFC2D8D4E7F0}"/>
              </a:ext>
            </a:extLst>
          </p:cNvPr>
          <p:cNvSpPr/>
          <p:nvPr/>
        </p:nvSpPr>
        <p:spPr>
          <a:xfrm>
            <a:off x="4285488" y="3191256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EAFBF4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081CDF51-EF05-3E09-A17D-1F0E8070F234}"/>
              </a:ext>
            </a:extLst>
          </p:cNvPr>
          <p:cNvSpPr/>
          <p:nvPr/>
        </p:nvSpPr>
        <p:spPr>
          <a:xfrm>
            <a:off x="4340352" y="3264408"/>
            <a:ext cx="1124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验证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核心链路</a:t>
            </a:r>
            <a:endParaRPr lang="en-US" sz="85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0CD50D52-0065-CDD0-5AD1-054B51E5C585}"/>
              </a:ext>
            </a:extLst>
          </p:cNvPr>
          <p:cNvSpPr/>
          <p:nvPr/>
        </p:nvSpPr>
        <p:spPr>
          <a:xfrm>
            <a:off x="3810000" y="3447288"/>
            <a:ext cx="429768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AA77A6F0-378F-C997-0D46-9A4369CFC0A8}"/>
              </a:ext>
            </a:extLst>
          </p:cNvPr>
          <p:cNvSpPr/>
          <p:nvPr/>
        </p:nvSpPr>
        <p:spPr>
          <a:xfrm>
            <a:off x="5565648" y="3447288"/>
            <a:ext cx="438912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FFB3955F-5DC0-9187-38E9-A6C23622B8A0}"/>
              </a:ext>
            </a:extLst>
          </p:cNvPr>
          <p:cNvSpPr/>
          <p:nvPr/>
        </p:nvSpPr>
        <p:spPr>
          <a:xfrm>
            <a:off x="6141720" y="15453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真实网球场扩展</a:t>
            </a:r>
            <a:endParaRPr lang="en-US" sz="1400" dirty="0"/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3F0F1CCB-9241-F0A0-BA5D-10BC582FA980}"/>
              </a:ext>
            </a:extLst>
          </p:cNvPr>
          <p:cNvSpPr/>
          <p:nvPr/>
        </p:nvSpPr>
        <p:spPr>
          <a:xfrm>
            <a:off x="6141720" y="1975104"/>
            <a:ext cx="3017520" cy="2464816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0E0AE24D-D64B-6C2D-2163-ECA71CFF703A}"/>
              </a:ext>
            </a:extLst>
          </p:cNvPr>
          <p:cNvSpPr/>
          <p:nvPr/>
        </p:nvSpPr>
        <p:spPr>
          <a:xfrm>
            <a:off x="6141720" y="1975104"/>
            <a:ext cx="73152" cy="3337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611C490F-1A41-9D28-1D0D-784130037ACB}"/>
              </a:ext>
            </a:extLst>
          </p:cNvPr>
          <p:cNvSpPr/>
          <p:nvPr/>
        </p:nvSpPr>
        <p:spPr>
          <a:xfrm>
            <a:off x="6306312" y="2103120"/>
            <a:ext cx="26974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保留与升级</a:t>
            </a:r>
            <a:endParaRPr lang="en-US" sz="1150" dirty="0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62AB226D-8F4A-7B41-2E69-3FF4E2356258}"/>
              </a:ext>
            </a:extLst>
          </p:cNvPr>
          <p:cNvSpPr/>
          <p:nvPr/>
        </p:nvSpPr>
        <p:spPr>
          <a:xfrm>
            <a:off x="6306312" y="2414016"/>
            <a:ext cx="2706624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30" dirty="0">
                <a:solidFill>
                  <a:srgbClr val="1F2937"/>
                </a:solidFill>
              </a:rPr>
              <a:t>保留：World State / Planner / Gather / Local Grasp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1F2937"/>
                </a:solidFill>
              </a:rPr>
              <a:t>升级：单相机 → 多高位相机或更高安装位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1F2937"/>
                </a:solidFill>
              </a:rPr>
              <a:t>升级：视觉定位 → 视觉 + 编码器 + IMU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1F2937"/>
                </a:solidFill>
              </a:rPr>
              <a:t>升级：简单闭环 → 局部避障与安全停车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1F2937"/>
                </a:solidFill>
              </a:rPr>
              <a:t>升级：室内光照 → 更鲁棒检测模型</a:t>
            </a:r>
            <a:endParaRPr lang="en-US" sz="730" dirty="0"/>
          </a:p>
        </p:txBody>
      </p:sp>
      <p:sp>
        <p:nvSpPr>
          <p:cNvPr id="46" name="Shape 17">
            <a:extLst>
              <a:ext uri="{FF2B5EF4-FFF2-40B4-BE49-F238E27FC236}">
                <a16:creationId xmlns:a16="http://schemas.microsoft.com/office/drawing/2014/main" id="{3AA20CCB-4D51-CC68-C5B9-9D31134F9892}"/>
              </a:ext>
            </a:extLst>
          </p:cNvPr>
          <p:cNvSpPr/>
          <p:nvPr/>
        </p:nvSpPr>
        <p:spPr>
          <a:xfrm>
            <a:off x="9433560" y="1975104"/>
            <a:ext cx="2011680" cy="2220976"/>
          </a:xfrm>
          <a:prstGeom prst="roundRect">
            <a:avLst>
              <a:gd name="adj" fmla="val 3636"/>
            </a:avLst>
          </a:prstGeom>
          <a:solidFill>
            <a:srgbClr val="F3E8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18">
            <a:extLst>
              <a:ext uri="{FF2B5EF4-FFF2-40B4-BE49-F238E27FC236}">
                <a16:creationId xmlns:a16="http://schemas.microsoft.com/office/drawing/2014/main" id="{9BF77849-44C1-D217-9B10-FCDC4D009752}"/>
              </a:ext>
            </a:extLst>
          </p:cNvPr>
          <p:cNvSpPr/>
          <p:nvPr/>
        </p:nvSpPr>
        <p:spPr>
          <a:xfrm>
            <a:off x="9433560" y="1975104"/>
            <a:ext cx="73152" cy="3337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D33F6056-9509-3C16-ED76-C99A6FC1E254}"/>
              </a:ext>
            </a:extLst>
          </p:cNvPr>
          <p:cNvSpPr/>
          <p:nvPr/>
        </p:nvSpPr>
        <p:spPr>
          <a:xfrm>
            <a:off x="9598152" y="2103120"/>
            <a:ext cx="16916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课程项目产出</a:t>
            </a:r>
            <a:endParaRPr lang="en-US" sz="1150" dirty="0"/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217BBC87-92BE-3E28-4462-B508510A1052}"/>
              </a:ext>
            </a:extLst>
          </p:cNvPr>
          <p:cNvSpPr/>
          <p:nvPr/>
        </p:nvSpPr>
        <p:spPr>
          <a:xfrm>
            <a:off x="9598152" y="2414016"/>
            <a:ext cx="1700784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80" dirty="0">
                <a:solidFill>
                  <a:srgbClr val="1F2937"/>
                </a:solidFill>
              </a:rPr>
              <a:t>能演示的机器人系统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1F2937"/>
                </a:solidFill>
              </a:rPr>
              <a:t>可复现实验数据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1F2937"/>
                </a:solidFill>
              </a:rPr>
              <a:t>模块化代码仓库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1F2937"/>
                </a:solidFill>
              </a:rPr>
              <a:t>硬件选型与标定文档</a:t>
            </a:r>
            <a:endParaRPr lang="en-US" sz="78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D5E9326-CB10-0A46-E743-23599E271672}"/>
              </a:ext>
            </a:extLst>
          </p:cNvPr>
          <p:cNvSpPr txBox="1"/>
          <p:nvPr/>
        </p:nvSpPr>
        <p:spPr>
          <a:xfrm>
            <a:off x="1361440" y="4922520"/>
            <a:ext cx="11125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没有加避障的原因：网球场上很少有障碍物 甚至不会有小石子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B8FC4C3-E788-5802-7773-56DC0D6DE70F}"/>
              </a:ext>
            </a:extLst>
          </p:cNvPr>
          <p:cNvSpPr txBox="1"/>
          <p:nvPr/>
        </p:nvSpPr>
        <p:spPr>
          <a:xfrm>
            <a:off x="4068064" y="4846995"/>
            <a:ext cx="11125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如果进度顺利</a:t>
            </a:r>
            <a:r>
              <a:rPr lang="en-US" altLang="zh-CN" dirty="0"/>
              <a:t>V2demo</a:t>
            </a:r>
            <a:r>
              <a:rPr lang="zh-CN" altLang="en-US" dirty="0"/>
              <a:t>可以考虑球网</a:t>
            </a:r>
            <a:r>
              <a:rPr lang="en-US" altLang="zh-CN" dirty="0"/>
              <a:t>&amp;</a:t>
            </a:r>
            <a:r>
              <a:rPr lang="zh-CN" altLang="en-US" dirty="0"/>
              <a:t>网球分布</a:t>
            </a:r>
          </a:p>
        </p:txBody>
      </p:sp>
    </p:spTree>
    <p:extLst>
      <p:ext uri="{BB962C8B-B14F-4D97-AF65-F5344CB8AC3E}">
        <p14:creationId xmlns:p14="http://schemas.microsoft.com/office/powerpoint/2010/main" val="1277832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参考文献与资料来源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66751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B7280"/>
                </a:solidFill>
              </a:rPr>
              <a:t>用于支撑 AprilTag、Homography、传感器融合与 RGBD 选型说明。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80160"/>
            <a:ext cx="10424160" cy="2788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2937"/>
                </a:solidFill>
              </a:rPr>
              <a:t>[1] AprilRobotics. AprilTag 3: fiducial marker system with tag detection and pose estimation. GitHub repository.
[2] OpenCV Documentation. getPerspectiveTransform / Homography tutorial: perspective transform from point correspondences.
[3] ROS / Nav2 Documentation. robot_localization setup guide: fusing odometry sensor inputs for smooth odometry; EKF localization node documentation.
[4] Orbbec. Gemini 2 specifications: active stereo depth camera, depth/RGB resolution, range and IMU information.
[5] OpenCV / AprilTag community tools may be used only as implementation references; final parameters must be validated on the 3×5 m Demo.</a:t>
            </a:r>
            <a:endParaRPr lang="en-US" sz="102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F2F9A2E6986C404535DED6076C83432535683F5A1D8CB0862787B53FF6912170" val="[{&quot;GradientColorId&quot;:&quot;&quot;,&quot;IsFree&quot;:true,&quot;IsGradient&quot;:false,&quot;ImagePath&quot;:&quot;&quot;,&quot;GradientColor&quot;:null,&quot;SimpleColor&quot;:&quot;#FF0000&quot;}]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1057</Words>
  <Application>Microsoft Office PowerPoint</Application>
  <PresentationFormat>宽屏</PresentationFormat>
  <Paragraphs>173</Paragraphs>
  <Slides>13</Slides>
  <Notes>11</Notes>
  <HiddenSlides>0</HiddenSlides>
  <MMClips>3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Microsoft YaHei</vt:lpstr>
      <vt:lpstr>Microsoft YaHei</vt:lpstr>
      <vt:lpstr>Arial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TennisBot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TennisBot 开题报告</dc:title>
  <dc:subject>TennisBot Opening Proposal</dc:subject>
  <dc:creator>OpenAI</dc:creator>
  <cp:lastModifiedBy>彦鲁 王</cp:lastModifiedBy>
  <cp:revision>45</cp:revision>
  <dcterms:created xsi:type="dcterms:W3CDTF">2026-08-31T14:51:40Z</dcterms:created>
  <dcterms:modified xsi:type="dcterms:W3CDTF">2026-09-01T03:40:48Z</dcterms:modified>
</cp:coreProperties>
</file>